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presProps.xml" ContentType="application/vnd.openxmlformats-officedocument.presentationml.presProps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4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6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1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5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5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49.xml.rels" ContentType="application/vnd.openxmlformats-package.relationships+xml"/>
  <Override PartName="/ppt/slides/_rels/slide14.xml.rels" ContentType="application/vnd.openxmlformats-package.relationships+xml"/>
  <Override PartName="/ppt/slides/_rels/slide48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BF2A52-C620-4904-AA03-835DA0EC47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8B622B-78FE-446C-AFA5-AC5C05852B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5315D-57F5-48BA-90A0-1F7DA603A6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7B8CC0-3D13-4277-8B13-0631A5BA7F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49B51F-8715-4829-B8DE-90B5F778560E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hyperlink" Target="https://metanit.com/cpp/tutorial/14.4.php" TargetMode="External"/><Relationship Id="rId2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360" y="1897560"/>
            <a:ext cx="90716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Управление памятью в C++.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Указатели, ссылки,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 и их устройство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Сегменты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ОЗУ: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кода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данных: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глобальных данных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 (куча)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Регистры процессора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Сегмент глобальных данных.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Глобальные переменные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220000" y="1620000"/>
            <a:ext cx="442692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Всегда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порядка инициализации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540000" y="1659240"/>
            <a:ext cx="4680000" cy="313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a1 == 0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a2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a3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a4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{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s1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Переменная s == "" 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Функция "s"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620000" y="1080000"/>
            <a:ext cx="180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Общие сведения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148720" y="1260000"/>
            <a:ext cx="442692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Складываются локальные переменные и 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У каждого потока свой стек вызовов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Размер стека по-умолчанию: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Linux: 8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ulimit -s &lt;размер в Кб&gt;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Windows, MacOS: 1 Мб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Устанавливается через настройки компилятора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800360" y="1152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main()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800360" y="1584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average()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"/>
          <p:cNvGrpSpPr/>
          <p:nvPr/>
        </p:nvGrpSpPr>
        <p:grpSpPr>
          <a:xfrm>
            <a:off x="0" y="1064880"/>
            <a:ext cx="1620000" cy="540000"/>
            <a:chOff x="0" y="1064880"/>
            <a:chExt cx="1620000" cy="540000"/>
          </a:xfrm>
        </p:grpSpPr>
        <p:sp>
          <p:nvSpPr>
            <p:cNvPr id="29" name=""/>
            <p:cNvSpPr/>
            <p:nvPr/>
          </p:nvSpPr>
          <p:spPr>
            <a:xfrm flipV="1">
              <a:off x="720000" y="106488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 txBox="1"/>
            <p:nvPr/>
          </p:nvSpPr>
          <p:spPr>
            <a:xfrm>
              <a:off x="0" y="1258560"/>
              <a:ext cx="1527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" name=""/>
          <p:cNvGrpSpPr/>
          <p:nvPr/>
        </p:nvGrpSpPr>
        <p:grpSpPr>
          <a:xfrm>
            <a:off x="3420000" y="1467360"/>
            <a:ext cx="1656720" cy="490320"/>
            <a:chOff x="3420000" y="1467360"/>
            <a:chExt cx="1656720" cy="490320"/>
          </a:xfrm>
        </p:grpSpPr>
        <p:sp>
          <p:nvSpPr>
            <p:cNvPr id="32" name=""/>
            <p:cNvSpPr/>
            <p:nvPr/>
          </p:nvSpPr>
          <p:spPr>
            <a:xfrm flipH="1" flipV="1">
              <a:off x="3420000" y="146736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 txBox="1"/>
            <p:nvPr/>
          </p:nvSpPr>
          <p:spPr>
            <a:xfrm>
              <a:off x="3600000" y="1611360"/>
              <a:ext cx="14767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 вызовов. Пример работы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112000" y="1208520"/>
            <a:ext cx="498744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result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g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620000" y="1080000"/>
            <a:ext cx="180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" name=""/>
          <p:cNvGrpSpPr/>
          <p:nvPr/>
        </p:nvGrpSpPr>
        <p:grpSpPr>
          <a:xfrm>
            <a:off x="0" y="1080000"/>
            <a:ext cx="1620000" cy="540000"/>
            <a:chOff x="0" y="1080000"/>
            <a:chExt cx="1620000" cy="540000"/>
          </a:xfrm>
        </p:grpSpPr>
        <p:sp>
          <p:nvSpPr>
            <p:cNvPr id="38" name=""/>
            <p:cNvSpPr/>
            <p:nvPr/>
          </p:nvSpPr>
          <p:spPr>
            <a:xfrm flipV="1">
              <a:off x="720000" y="1080000"/>
              <a:ext cx="900000" cy="19368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 txBox="1"/>
            <p:nvPr/>
          </p:nvSpPr>
          <p:spPr>
            <a:xfrm>
              <a:off x="0" y="1273680"/>
              <a:ext cx="152748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frame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"/>
          <p:cNvSpPr/>
          <p:nvPr/>
        </p:nvSpPr>
        <p:spPr>
          <a:xfrm>
            <a:off x="1800000" y="1152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800360" y="20163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val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800720" y="24487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addr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801080" y="288108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prev frame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801440" y="331344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 = 22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01800" y="37458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= 12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802160" y="417816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result = 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802520" y="46105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+ b = 34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802520" y="41785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result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3420000" y="1476000"/>
            <a:ext cx="1656720" cy="490320"/>
            <a:chOff x="3420000" y="1476000"/>
            <a:chExt cx="1656720" cy="490320"/>
          </a:xfrm>
        </p:grpSpPr>
        <p:sp>
          <p:nvSpPr>
            <p:cNvPr id="51" name=""/>
            <p:cNvSpPr/>
            <p:nvPr/>
          </p:nvSpPr>
          <p:spPr>
            <a:xfrm flipH="1" flipV="1">
              <a:off x="3420000" y="1476000"/>
              <a:ext cx="540000" cy="180000"/>
            </a:xfrm>
            <a:prstGeom prst="line">
              <a:avLst/>
            </a:prstGeom>
            <a:ln w="0">
              <a:solidFill>
                <a:srgbClr val="3465a4"/>
              </a:solidFill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3600000" y="1620000"/>
              <a:ext cx="14767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stack pointer</a:t>
              </a:r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"/>
          <p:cNvSpPr/>
          <p:nvPr/>
        </p:nvSpPr>
        <p:spPr>
          <a:xfrm>
            <a:off x="1800720" y="201672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ret val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17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800000" y="1584000"/>
            <a:ext cx="1440000" cy="36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 = 1.13333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0602527912257383 L -3.57142857142857E-005 0.07949567417902 E">
                                      <p:cBhvr>
                                        <p:cTn id="8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34486201995524 C -3.57142857142857E-005 0.155593153118993 -3.57142857142857E-005 0.155593153118993 -3.57142857142857E-005 0.155593153118993 E">
                                      <p:cBhvr>
                                        <p:cTn id="14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09989382119697 C -3.57142857142857E-005 0.226772522642209 -3.57142857142857E-005 0.226772522642209 -3.57142857142857E-005 0.226772522642209 E">
                                      <p:cBhvr>
                                        <p:cTn id="20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291078125002842 C -3.57142857142857E-005 0.333285844084961 -3.57142857142857E-005 0.312181984543902 -3.57142857142857E-005 0.312181984543902 E">
                                      <p:cBhvr>
                                        <p:cTn id="26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0756825396825397 L -0.00178571428571429 0.380444444444445 E">
                                      <p:cBhvr>
                                        <p:cTn id="28" dur="1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36914706774567 C -3.57142857142857E-005 0.40964625358778 -3.57142857142857E-005 0.389396660666725 -3.57142857142857E-005 0.389396660666725 E">
                                      <p:cBhvr>
                                        <p:cTn id="34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44115029404377 L -3.57142857142857E-005 0.460605193977226 E">
                                      <p:cBhvr>
                                        <p:cTn id="40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13590415639462 L -3.57142857142857E-005 0.539540850309243 E">
                                      <p:cBhvr>
                                        <p:cTn id="46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88016262272393 L -3.57142857142857E-005 0.611112149128498 E">
                                      <p:cBhvr>
                                        <p:cTn id="52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604679009178169 L -3.57142857142857E-005 0.539181160801563 E">
                                      <p:cBhvr>
                                        <p:cTn id="58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50431746031746 C -3.57142857142857E-005 0.091619047619047 -3.57142857142857E-005 0.409079365079365 -3.57142857142857E-005 0.155111111111111 E">
                                      <p:cBhvr>
                                        <p:cTn id="80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8571428571429 0.304253968253968 L -0.00178571428571429 -0.000507936507937012 E">
                                      <p:cBhvr>
                                        <p:cTn id="82" dur="1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path" presetID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7142857142857E-005 0.142412698412698 C -3.57142857142857E-005 0.0789206349206345 -3.57142857142857E-005 0.0789206349206345 -3.57142857142857E-005 0.0789206349206345 E">
                                      <p:cBhvr>
                                        <p:cTn id="92" dur="1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 в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Переменная = адрес первого байта + кол-во байт + способ интерпретации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Разряды могут располагаться в разном порядке в зависимости от железа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Отрицательные целые числа: дополнительный код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Вещественные числа = мантисса + экспонента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04000" y="1800000"/>
            <a:ext cx="41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12000" y="180000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620360" y="180036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628720" y="180072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637080" y="180108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23800" y="1260000"/>
            <a:ext cx="17834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5" name=""/>
          <p:cNvGrpSpPr/>
          <p:nvPr/>
        </p:nvGrpSpPr>
        <p:grpSpPr>
          <a:xfrm>
            <a:off x="540000" y="3598920"/>
            <a:ext cx="1260000" cy="720000"/>
            <a:chOff x="540000" y="3598920"/>
            <a:chExt cx="1260000" cy="720000"/>
          </a:xfrm>
        </p:grpSpPr>
        <p:sp>
          <p:nvSpPr>
            <p:cNvPr id="66" name=""/>
            <p:cNvSpPr/>
            <p:nvPr/>
          </p:nvSpPr>
          <p:spPr>
            <a:xfrm>
              <a:off x="540000" y="3598920"/>
              <a:ext cx="1260000" cy="72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20000" y="3598920"/>
              <a:ext cx="900000" cy="72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"/>
          <p:cNvSpPr txBox="1"/>
          <p:nvPr/>
        </p:nvSpPr>
        <p:spPr>
          <a:xfrm>
            <a:off x="540000" y="3058920"/>
            <a:ext cx="191700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152680" y="1172520"/>
            <a:ext cx="4426920" cy="422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— объект, хранящий  адрес первого байта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Указатель весит 8 б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Тип указателя зависит от типа переменной, на которой он ссылается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Ни на что не ссылающийся указатель должен содержать значение nullptr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Взятие адреса (&amp;)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Разыменование (*)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Приведение типов указателей ((char*)c)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" name=""/>
          <p:cNvGrpSpPr/>
          <p:nvPr/>
        </p:nvGrpSpPr>
        <p:grpSpPr>
          <a:xfrm>
            <a:off x="252000" y="1800720"/>
            <a:ext cx="2916000" cy="358920"/>
            <a:chOff x="252000" y="1800720"/>
            <a:chExt cx="2916000" cy="358920"/>
          </a:xfrm>
        </p:grpSpPr>
        <p:sp>
          <p:nvSpPr>
            <p:cNvPr id="72" name=""/>
            <p:cNvSpPr/>
            <p:nvPr/>
          </p:nvSpPr>
          <p:spPr>
            <a:xfrm>
              <a:off x="252000" y="1800720"/>
              <a:ext cx="2916000" cy="3585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327960" y="1800720"/>
              <a:ext cx="63432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1038240" y="180072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1748520" y="180108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2458800" y="1801080"/>
              <a:ext cx="633960" cy="3585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"/>
          <p:cNvSpPr txBox="1"/>
          <p:nvPr/>
        </p:nvSpPr>
        <p:spPr>
          <a:xfrm>
            <a:off x="235800" y="1260720"/>
            <a:ext cx="17834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80000" y="4680000"/>
            <a:ext cx="1980000" cy="59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 flipH="1" flipV="1">
            <a:off x="540000" y="2340000"/>
            <a:ext cx="1800000" cy="1620000"/>
          </a:xfrm>
          <a:prstGeom prst="line">
            <a:avLst/>
          </a:prstGeom>
          <a:ln w="1908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"/>
          <p:cNvGrpSpPr/>
          <p:nvPr/>
        </p:nvGrpSpPr>
        <p:grpSpPr>
          <a:xfrm>
            <a:off x="180000" y="4140000"/>
            <a:ext cx="2160000" cy="359640"/>
            <a:chOff x="180000" y="4140000"/>
            <a:chExt cx="2160000" cy="359640"/>
          </a:xfrm>
        </p:grpSpPr>
        <p:sp>
          <p:nvSpPr>
            <p:cNvPr id="81" name=""/>
            <p:cNvSpPr/>
            <p:nvPr/>
          </p:nvSpPr>
          <p:spPr>
            <a:xfrm>
              <a:off x="180000" y="414000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236160" y="41400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762840" y="414000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1288080" y="414036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1814760" y="4140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" name=""/>
          <p:cNvGrpSpPr/>
          <p:nvPr/>
        </p:nvGrpSpPr>
        <p:grpSpPr>
          <a:xfrm>
            <a:off x="2304000" y="4140360"/>
            <a:ext cx="2160000" cy="359640"/>
            <a:chOff x="2304000" y="4140360"/>
            <a:chExt cx="2160000" cy="359640"/>
          </a:xfrm>
        </p:grpSpPr>
        <p:sp>
          <p:nvSpPr>
            <p:cNvPr id="87" name=""/>
            <p:cNvSpPr/>
            <p:nvPr/>
          </p:nvSpPr>
          <p:spPr>
            <a:xfrm>
              <a:off x="2304000" y="4140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2360160" y="4140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2886840" y="4140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3412080" y="4140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3938760" y="4140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"/>
          <p:cNvGrpSpPr/>
          <p:nvPr/>
        </p:nvGrpSpPr>
        <p:grpSpPr>
          <a:xfrm>
            <a:off x="3528000" y="1799280"/>
            <a:ext cx="2700000" cy="360720"/>
            <a:chOff x="3528000" y="1799280"/>
            <a:chExt cx="2700000" cy="360720"/>
          </a:xfrm>
        </p:grpSpPr>
        <p:sp>
          <p:nvSpPr>
            <p:cNvPr id="93" name=""/>
            <p:cNvSpPr/>
            <p:nvPr/>
          </p:nvSpPr>
          <p:spPr>
            <a:xfrm>
              <a:off x="3528000" y="1799280"/>
              <a:ext cx="2700000" cy="3603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359820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425628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4913640" y="1799640"/>
              <a:ext cx="58716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5571360" y="179964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Арифметика указателей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120000" y="1326600"/>
            <a:ext cx="378000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Разрешены операции: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 + число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ptr - число или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 - 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ptr[число]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305040" y="3408840"/>
            <a:ext cx="2154960" cy="163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180000" y="1800000"/>
            <a:ext cx="2630160" cy="360000"/>
            <a:chOff x="180000" y="1800000"/>
            <a:chExt cx="2630160" cy="360000"/>
          </a:xfrm>
        </p:grpSpPr>
        <p:sp>
          <p:nvSpPr>
            <p:cNvPr id="102" name=""/>
            <p:cNvSpPr/>
            <p:nvPr/>
          </p:nvSpPr>
          <p:spPr>
            <a:xfrm>
              <a:off x="180000" y="1800000"/>
              <a:ext cx="2630160" cy="3596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248400" y="180000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889560" y="180000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1529640" y="1800360"/>
              <a:ext cx="57204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2170440" y="1800360"/>
              <a:ext cx="571680" cy="35964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"/>
          <p:cNvSpPr txBox="1"/>
          <p:nvPr/>
        </p:nvSpPr>
        <p:spPr>
          <a:xfrm>
            <a:off x="199800" y="1369080"/>
            <a:ext cx="4478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"/>
          <p:cNvGrpSpPr/>
          <p:nvPr/>
        </p:nvGrpSpPr>
        <p:grpSpPr>
          <a:xfrm>
            <a:off x="648000" y="2340000"/>
            <a:ext cx="441360" cy="1328760"/>
            <a:chOff x="648000" y="2340000"/>
            <a:chExt cx="441360" cy="1328760"/>
          </a:xfrm>
        </p:grpSpPr>
        <p:sp>
          <p:nvSpPr>
            <p:cNvPr id="109" name=""/>
            <p:cNvSpPr txBox="1"/>
            <p:nvPr/>
          </p:nvSpPr>
          <p:spPr>
            <a:xfrm>
              <a:off x="756000" y="3240000"/>
              <a:ext cx="33336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 flipV="1">
              <a:off x="648000" y="234000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"/>
          <p:cNvGrpSpPr/>
          <p:nvPr/>
        </p:nvGrpSpPr>
        <p:grpSpPr>
          <a:xfrm>
            <a:off x="2808000" y="1799280"/>
            <a:ext cx="2700000" cy="360720"/>
            <a:chOff x="2808000" y="1799280"/>
            <a:chExt cx="2700000" cy="360720"/>
          </a:xfrm>
        </p:grpSpPr>
        <p:sp>
          <p:nvSpPr>
            <p:cNvPr id="112" name=""/>
            <p:cNvSpPr/>
            <p:nvPr/>
          </p:nvSpPr>
          <p:spPr>
            <a:xfrm>
              <a:off x="2808000" y="1799280"/>
              <a:ext cx="2700000" cy="3603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87820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3536280" y="179928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4193640" y="1799640"/>
              <a:ext cx="58716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4851360" y="1799640"/>
              <a:ext cx="586800" cy="36036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0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"/>
          <p:cNvSpPr txBox="1"/>
          <p:nvPr/>
        </p:nvSpPr>
        <p:spPr>
          <a:xfrm>
            <a:off x="2827800" y="1369440"/>
            <a:ext cx="4478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3255840" y="2340360"/>
            <a:ext cx="405360" cy="1328760"/>
            <a:chOff x="3255840" y="2340360"/>
            <a:chExt cx="405360" cy="1328760"/>
          </a:xfrm>
        </p:grpSpPr>
        <p:sp>
          <p:nvSpPr>
            <p:cNvPr id="119" name=""/>
            <p:cNvSpPr txBox="1"/>
            <p:nvPr/>
          </p:nvSpPr>
          <p:spPr>
            <a:xfrm>
              <a:off x="3327840" y="3240360"/>
              <a:ext cx="33336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 flipH="1" flipV="1">
              <a:off x="3255840" y="2340360"/>
              <a:ext cx="180000" cy="90000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1" name=""/>
          <p:cNvGrpSpPr/>
          <p:nvPr/>
        </p:nvGrpSpPr>
        <p:grpSpPr>
          <a:xfrm>
            <a:off x="2427840" y="2340000"/>
            <a:ext cx="848520" cy="1329120"/>
            <a:chOff x="2427840" y="2340000"/>
            <a:chExt cx="848520" cy="1329120"/>
          </a:xfrm>
        </p:grpSpPr>
        <p:sp>
          <p:nvSpPr>
            <p:cNvPr id="122" name=""/>
            <p:cNvSpPr txBox="1"/>
            <p:nvPr/>
          </p:nvSpPr>
          <p:spPr>
            <a:xfrm>
              <a:off x="2427840" y="3240360"/>
              <a:ext cx="84852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+ 1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 flipV="1">
              <a:off x="282384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4" name=""/>
          <p:cNvGrpSpPr/>
          <p:nvPr/>
        </p:nvGrpSpPr>
        <p:grpSpPr>
          <a:xfrm>
            <a:off x="-55800" y="2340000"/>
            <a:ext cx="848520" cy="1329120"/>
            <a:chOff x="-55800" y="2340000"/>
            <a:chExt cx="848520" cy="1329120"/>
          </a:xfrm>
        </p:grpSpPr>
        <p:sp>
          <p:nvSpPr>
            <p:cNvPr id="125" name=""/>
            <p:cNvSpPr txBox="1"/>
            <p:nvPr/>
          </p:nvSpPr>
          <p:spPr>
            <a:xfrm>
              <a:off x="-55800" y="3240360"/>
              <a:ext cx="84852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q - 1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 flipV="1">
              <a:off x="232200" y="2340000"/>
              <a:ext cx="23580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7" name=""/>
          <p:cNvGrpSpPr/>
          <p:nvPr/>
        </p:nvGrpSpPr>
        <p:grpSpPr>
          <a:xfrm>
            <a:off x="5128200" y="2340000"/>
            <a:ext cx="848520" cy="1329120"/>
            <a:chOff x="5128200" y="2340000"/>
            <a:chExt cx="848520" cy="1329120"/>
          </a:xfrm>
        </p:grpSpPr>
        <p:sp>
          <p:nvSpPr>
            <p:cNvPr id="128" name=""/>
            <p:cNvSpPr txBox="1"/>
            <p:nvPr/>
          </p:nvSpPr>
          <p:spPr>
            <a:xfrm>
              <a:off x="5128200" y="3240360"/>
              <a:ext cx="848520" cy="4287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90000" rIns="90000" tIns="45000" bIns="45000" anchor="t">
              <a:spAutoFit/>
            </a:bodyPr>
            <a:p>
              <a:r>
                <a:rPr b="0" lang="ru-RU" sz="1750" strike="noStrike" u="none">
                  <a:solidFill>
                    <a:srgbClr val="000000"/>
                  </a:solidFill>
                  <a:effectLst/>
                  <a:uFillTx/>
                  <a:latin typeface="JetBrains Mono"/>
                  <a:ea typeface="JetBrains Mono"/>
                </a:rPr>
                <a:t>p + 2</a:t>
              </a:r>
              <a:endPara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 flipV="1">
              <a:off x="5524200" y="2340000"/>
              <a:ext cx="272160" cy="900360"/>
            </a:xfrm>
            <a:prstGeom prst="line">
              <a:avLst/>
            </a:prstGeom>
            <a:ln w="19080">
              <a:solidFill>
                <a:srgbClr val="3465a4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0" name=""/>
          <p:cNvSpPr txBox="1"/>
          <p:nvPr/>
        </p:nvSpPr>
        <p:spPr>
          <a:xfrm>
            <a:off x="1980000" y="4001400"/>
            <a:ext cx="198000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 - p == 1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p[1]  == *(p + 1)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q[-1] == *(q - 1)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Примеры. Исследование стека вызовов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Порядок расположения переменных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Расположение разрядов переменной в памяти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65040" y="1248840"/>
            <a:ext cx="3519720" cy="3144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'5'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*)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— псевдоним для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не хранится в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должна быть инициализирована при создании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Ссылку нельзя сослать на другую переменную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Любое действие над ссылкой аналогично действию над соответствующей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Нельзя создать ссылку на ссылку и массив ссылок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88000" y="1801440"/>
            <a:ext cx="41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96000" y="180144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44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404360" y="180180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256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412720" y="180216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421080" y="1802520"/>
            <a:ext cx="900000" cy="720000"/>
          </a:xfrm>
          <a:prstGeom prst="roundRect">
            <a:avLst>
              <a:gd name="adj" fmla="val 16667"/>
            </a:avLst>
          </a:prstGeom>
          <a:solidFill>
            <a:srgbClr val="3465a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0000" y="2700000"/>
            <a:ext cx="4680000" cy="27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ref2;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ref3[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аналогично операции a = b;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326520" y="1390680"/>
            <a:ext cx="1293480" cy="34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a, ref: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Массивы и контейнеры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 — множество объектов одного типа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статического массива всегда 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Элементы располагаются друг за другом без «отступов»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Имя массива приводится компилятором к указателю на 1-й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массива можно узнать только в байтах через sizeof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40000" y="1080000"/>
            <a:ext cx="424224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= 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длина массива угадывается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элементы, значения 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которых не указаны явно,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инициализируются нулями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a[1] = 8;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размер «c»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более современный метод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Конетейнер array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5152680" y="1290600"/>
            <a:ext cx="44269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— шаблон класса, обёртывающий работу над статическим массивом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 и back() — первый и последний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size() - кол-во элементов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at() - обращение по индексу с проверкой выхода за границы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data() - указатель на первый элемент статического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begin() и end() - итераторы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40000" y="1620000"/>
            <a:ext cx="4612680" cy="32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&lt;array&gt;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инициализируется нулями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UB, OK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front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==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data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0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Динамическая память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Механизм «Куча» позволяет выделять дополнительную память во время работы программы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Размер выделяемой памяти не должен быть известен во время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Время жизни переменных в куче — период с вызова new до вызова delete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Потеря всех указателей на объект в куче —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60000" y="1248840"/>
            <a:ext cx="4585680" cy="433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инициализируем объект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br>
              <a:rPr sz="1750"/>
            </a:b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9.7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объект в куче инициализирован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значением 9.7 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9.7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обнуляем указатель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Расположены в куче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Их размер может быть неизвестен на этапе компиляции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По-умолчанию элементы массива ничем не инициализируются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 хранят информации о кол-ве элементов, нам необходимо хранить её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0" y="1260000"/>
            <a:ext cx="4454640" cy="4151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q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{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инициализирован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массив не инициализирован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сохраняем размер массива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// инициализируем массив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680000" y="1080000"/>
            <a:ext cx="5220000" cy="45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 — шаблон класса, обёртывающий работу над динамическим массивом. Вызывает new в конструкторе и delete в деструкторе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Самые популярные 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front(), back(), at(index), size(), begin(), end(), data() - аналогичны методам «array»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push_back(val), pop_back() -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добавляют/удаляют конечный элемент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insert(iter, val), erase(iter) — вставляет элемент со сдвигом вправо и удаляет со сдвигом влево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60000" y="1152000"/>
            <a:ext cx="360000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&lt;vector&gt;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/*...*/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&gt;</a:t>
            </a:r>
            <a:r>
              <a:rPr b="0" lang="ru-RU" sz="17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insert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2, 4, 5}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erase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4, 5}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pop_back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{1, 7, 4}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5332680" y="1260000"/>
            <a:ext cx="47473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Конструкторы: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vector(n) — вектор из n неинициализированных элементов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vector(n, val) — вектор из n элементов, равных val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vector(iter1, iter2) — вектор, состоящий из элементов другого контейнера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assign(n, val), assign(iter1, iter2) — «переинициализация» существующего вектора.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resize(n) — изменение размера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400" y="1449720"/>
            <a:ext cx="501804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ar2 == {?, ?, ?}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ar4 == {1, 2, 3}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assign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'9'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ar3 == {'9', '9', '9'}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Контейнер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 управления буфером в vector: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capacity()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текущий размер буфера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reserve(n) — если текущий размер буфера меньше n, расширяет буфер до n, сохраняя элементы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shrink_to_fit()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подгоняет размер буфера под размер его активной части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60000" y="1440000"/>
            <a:ext cx="442800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push_back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ar == {0, 0, 0, 0, 0, 1}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reserve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shrink_to_fit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capacity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инициализируются во время определения, то внешняя размерность угадывается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 — возвращает i-ю строчку (тип возвращаемого значения — массив)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a[i][j] — элемент на пересечении i-й строки и j-го столбца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многомерного массива sizeof возвращает суммарный размер всех строк в байтах, а std::size — длину внешней размерности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0" y="1332000"/>
            <a:ext cx="5254200" cy="34560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typeid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name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A5_i == int [5] (c++filt -t A5_i)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15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3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статические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9" name=""/>
          <p:cNvGrpSpPr/>
          <p:nvPr/>
        </p:nvGrpSpPr>
        <p:grpSpPr>
          <a:xfrm>
            <a:off x="8676000" y="1324440"/>
            <a:ext cx="1080000" cy="3960000"/>
            <a:chOff x="8676000" y="1324440"/>
            <a:chExt cx="1080000" cy="3960000"/>
          </a:xfrm>
        </p:grpSpPr>
        <p:sp>
          <p:nvSpPr>
            <p:cNvPr id="170" name=""/>
            <p:cNvSpPr/>
            <p:nvPr/>
          </p:nvSpPr>
          <p:spPr>
            <a:xfrm>
              <a:off x="8676000" y="1324440"/>
              <a:ext cx="1080000" cy="396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8856000" y="13964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8856360" y="26931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856360" y="312552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5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8856720" y="355788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8856720" y="39902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8857080" y="48549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8857080" y="44229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8856360" y="226116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8856000" y="1828440"/>
              <a:ext cx="71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"/>
          <p:cNvSpPr txBox="1"/>
          <p:nvPr/>
        </p:nvSpPr>
        <p:spPr>
          <a:xfrm>
            <a:off x="360360" y="1296360"/>
            <a:ext cx="5219640" cy="41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*(*(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 (==a[1][2])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Обходы массива: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или ((int*)a)[i]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row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col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 flipV="1">
            <a:off x="7812000" y="513000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 flipV="1">
            <a:off x="7812000" y="299088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 flipV="1">
            <a:off x="7812000" y="128376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4" name=""/>
          <p:cNvGrpSpPr/>
          <p:nvPr/>
        </p:nvGrpSpPr>
        <p:grpSpPr>
          <a:xfrm>
            <a:off x="5797440" y="1252440"/>
            <a:ext cx="1942560" cy="4345560"/>
            <a:chOff x="5797440" y="1252440"/>
            <a:chExt cx="1942560" cy="4345560"/>
          </a:xfrm>
        </p:grpSpPr>
        <p:sp>
          <p:nvSpPr>
            <p:cNvPr id="185" name=""/>
            <p:cNvSpPr/>
            <p:nvPr/>
          </p:nvSpPr>
          <p:spPr>
            <a:xfrm>
              <a:off x="6840000" y="1252440"/>
              <a:ext cx="900000" cy="434556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6990480" y="1333800"/>
              <a:ext cx="59940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a[3]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"/>
            <p:cNvSpPr/>
            <p:nvPr/>
          </p:nvSpPr>
          <p:spPr>
            <a:xfrm>
              <a:off x="7021080" y="517428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</a:t>
              </a: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[0]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"/>
            <p:cNvSpPr/>
            <p:nvPr/>
          </p:nvSpPr>
          <p:spPr>
            <a:xfrm>
              <a:off x="6990840" y="310680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a[1]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5797440" y="517464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6991200" y="2459160"/>
              <a:ext cx="599040" cy="3852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a[2]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1" name=""/>
          <p:cNvSpPr/>
          <p:nvPr/>
        </p:nvSpPr>
        <p:spPr>
          <a:xfrm>
            <a:off x="6480000" y="5400000"/>
            <a:ext cx="36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820000" y="900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7812000" y="2472120"/>
            <a:ext cx="900000" cy="1936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динамические массивы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60720" y="1332720"/>
            <a:ext cx="5219640" cy="298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тело массива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Создаём таблицу индексов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элемент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Очищаем память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index_table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940000" y="1326960"/>
            <a:ext cx="363996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Надо, чтобы работала инструкция: a[i][j]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[ ] работает со значением a[i] и возвращает int. Тогда тип a[i] — int*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Аналогично, тип a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int**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Будем хранить сам массив и «таблицу индексов» отдельно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Многомерные массивы: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array и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69080" y="1585080"/>
            <a:ext cx="5110920" cy="363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array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   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15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120000" y="1432440"/>
            <a:ext cx="3816000" cy="40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Многомерность достигается «вкладыванием» контейнера в контейнер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array инициализируется линейно (без вложенных фигурных скобок)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инициализируется только с синтаксисом вложенных фигурных скобок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Многомерный vector может содержать вектора разных длин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Placement new и выравнивание памяти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new с размещением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(Placement new)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5152680" y="1800000"/>
            <a:ext cx="4426920" cy="360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Преобразует переданный указатель к указатели на нужный тип + вызывает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Нужен, если Вы получили выделенную в стиле C память, в которой нужно хранить объект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Также можно использовать для создания нового объекта «поверх» текущего, переиспользования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80000" y="1620000"/>
            <a:ext cx="4972680" cy="347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&lt;cstdlib&gt;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Выделяем память в стиле C: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void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malloc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Размещаем в ней объект std::string: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string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"Hi!"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Выводим получившийся объект: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Освобождаем память в стиле C: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free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Истоки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5040000" y="1172520"/>
            <a:ext cx="4860000" cy="44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состоит из множества строк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Процессор за раз может считать только 1 строку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переменная будет разбита на 2 строки, то считывание её будет происходить дольше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— расположение переменной целиком в одной строке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В приведённом слева примере переменная «b» выровнена, а переменная «a»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"/>
          <p:cNvGrpSpPr/>
          <p:nvPr/>
        </p:nvGrpSpPr>
        <p:grpSpPr>
          <a:xfrm>
            <a:off x="324000" y="1656360"/>
            <a:ext cx="4320000" cy="360000"/>
            <a:chOff x="324000" y="1656360"/>
            <a:chExt cx="4320000" cy="360000"/>
          </a:xfrm>
        </p:grpSpPr>
        <p:grpSp>
          <p:nvGrpSpPr>
            <p:cNvPr id="207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08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3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14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" name=""/>
            <p:cNvGrpSpPr/>
            <p:nvPr/>
          </p:nvGrpSpPr>
          <p:grpSpPr>
            <a:xfrm>
              <a:off x="324000" y="1656360"/>
              <a:ext cx="2160000" cy="359640"/>
              <a:chOff x="324000" y="1656360"/>
              <a:chExt cx="2160000" cy="359640"/>
            </a:xfrm>
          </p:grpSpPr>
          <p:sp>
            <p:nvSpPr>
              <p:cNvPr id="220" name=""/>
              <p:cNvSpPr/>
              <p:nvPr/>
            </p:nvSpPr>
            <p:spPr>
              <a:xfrm>
                <a:off x="324000" y="165636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380160" y="165636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>
                <a:off x="906840" y="165636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45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" name=""/>
              <p:cNvSpPr/>
              <p:nvPr/>
            </p:nvSpPr>
            <p:spPr>
              <a:xfrm>
                <a:off x="1432080" y="165672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>
                <a:off x="19587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1e6a39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5" name=""/>
            <p:cNvGrpSpPr/>
            <p:nvPr/>
          </p:nvGrpSpPr>
          <p:grpSpPr>
            <a:xfrm>
              <a:off x="2484000" y="1656720"/>
              <a:ext cx="2160000" cy="359640"/>
              <a:chOff x="2484000" y="1656720"/>
              <a:chExt cx="2160000" cy="359640"/>
            </a:xfrm>
          </p:grpSpPr>
          <p:sp>
            <p:nvSpPr>
              <p:cNvPr id="226" name=""/>
              <p:cNvSpPr/>
              <p:nvPr/>
            </p:nvSpPr>
            <p:spPr>
              <a:xfrm>
                <a:off x="2484000" y="1656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2540160" y="1656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>
                <a:off x="3066840" y="1656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9" name=""/>
              <p:cNvSpPr/>
              <p:nvPr/>
            </p:nvSpPr>
            <p:spPr>
              <a:xfrm>
                <a:off x="3592080" y="1657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7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</a:t>
                </a:r>
                <a:endParaRPr b="0" lang="ru-RU" sz="17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>
                <a:off x="4118760" y="1657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20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31" name=""/>
          <p:cNvGrpSpPr/>
          <p:nvPr/>
        </p:nvGrpSpPr>
        <p:grpSpPr>
          <a:xfrm>
            <a:off x="324000" y="2268720"/>
            <a:ext cx="4320000" cy="360000"/>
            <a:chOff x="324000" y="2268720"/>
            <a:chExt cx="4320000" cy="360000"/>
          </a:xfrm>
        </p:grpSpPr>
        <p:grpSp>
          <p:nvGrpSpPr>
            <p:cNvPr id="232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33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8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39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44" name=""/>
            <p:cNvGrpSpPr/>
            <p:nvPr/>
          </p:nvGrpSpPr>
          <p:grpSpPr>
            <a:xfrm>
              <a:off x="324000" y="2268720"/>
              <a:ext cx="2160000" cy="359640"/>
              <a:chOff x="324000" y="2268720"/>
              <a:chExt cx="2160000" cy="359640"/>
            </a:xfrm>
          </p:grpSpPr>
          <p:sp>
            <p:nvSpPr>
              <p:cNvPr id="245" name=""/>
              <p:cNvSpPr/>
              <p:nvPr/>
            </p:nvSpPr>
            <p:spPr>
              <a:xfrm>
                <a:off x="324000" y="226872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>
                <a:off x="380160" y="226872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15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>
                <a:off x="906840" y="226872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800080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59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>
                <a:off x="1432080" y="226908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>
                <a:off x="19587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50" name=""/>
            <p:cNvGrpSpPr/>
            <p:nvPr/>
          </p:nvGrpSpPr>
          <p:grpSpPr>
            <a:xfrm>
              <a:off x="2484000" y="2269080"/>
              <a:ext cx="2160000" cy="359640"/>
              <a:chOff x="2484000" y="2269080"/>
              <a:chExt cx="2160000" cy="359640"/>
            </a:xfrm>
          </p:grpSpPr>
          <p:sp>
            <p:nvSpPr>
              <p:cNvPr id="251" name=""/>
              <p:cNvSpPr/>
              <p:nvPr/>
            </p:nvSpPr>
            <p:spPr>
              <a:xfrm>
                <a:off x="2484000" y="2269080"/>
                <a:ext cx="2160000" cy="359280"/>
              </a:xfrm>
              <a:prstGeom prst="rect">
                <a:avLst/>
              </a:prstGeom>
              <a:solidFill>
                <a:srgbClr val="729fcf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ru-RU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2540160" y="226908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>
                <a:off x="3066840" y="2269080"/>
                <a:ext cx="46908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>
                <a:off x="3592080" y="2269440"/>
                <a:ext cx="47016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>
                <a:off x="4118760" y="2269440"/>
                <a:ext cx="469440" cy="359280"/>
              </a:xfrm>
              <a:prstGeom prst="roundRect">
                <a:avLst>
                  <a:gd name="adj" fmla="val 16667"/>
                </a:avLst>
              </a:prstGeom>
              <a:solidFill>
                <a:srgbClr val="3465a4"/>
              </a:solidFill>
              <a:ln w="0"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/>
                <a:r>
                  <a:rPr b="0" lang="ru-RU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rPr>
                  <a:t>?</a:t>
                </a:r>
                <a:endPara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6" name=""/>
          <p:cNvSpPr txBox="1"/>
          <p:nvPr/>
        </p:nvSpPr>
        <p:spPr>
          <a:xfrm>
            <a:off x="1980000" y="1172520"/>
            <a:ext cx="9770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328760" y="4251240"/>
            <a:ext cx="2863800" cy="767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990843905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950"/>
            </a:br>
            <a:r>
              <a:rPr b="0" lang="ru-RU" sz="19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9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9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336211201</a:t>
            </a:r>
            <a:r>
              <a:rPr b="0" lang="ru-RU" sz="19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368000" y="2857680"/>
            <a:ext cx="291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«a»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856440" y="2845440"/>
            <a:ext cx="470160" cy="359280"/>
          </a:xfrm>
          <a:prstGeom prst="roundRect">
            <a:avLst>
              <a:gd name="adj" fmla="val 16667"/>
            </a:avLst>
          </a:prstGeom>
          <a:solidFill>
            <a:srgbClr val="8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368000" y="3361680"/>
            <a:ext cx="2916000" cy="3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байт переменной «b»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856440" y="3349440"/>
            <a:ext cx="470160" cy="359280"/>
          </a:xfrm>
          <a:prstGeom prst="roundRect">
            <a:avLst>
              <a:gd name="adj" fmla="val 16667"/>
            </a:avLst>
          </a:prstGeom>
          <a:solidFill>
            <a:srgbClr val="1e6a3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17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ru-RU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памяти. Конкретика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5152680" y="1614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переменной в C — расположение её первого байта в ячейке с номером, кратным некоторой степени 2-ки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Все типы выравниваются по-умолчанию по своему размеру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alignof()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выравнивание (степень 2-ки)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alignas(2**n) — задаёт выравнивание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40000" y="1620000"/>
            <a:ext cx="430992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89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8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550" strike="noStrike" u="none">
                <a:solidFill>
                  <a:srgbClr val="80808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Выравнивание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40000" y="1260000"/>
            <a:ext cx="486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Структуры выравниваются по-умолчанию по самому требовательному полю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Однако поля структур выравниваются по-особому: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под них выделяется блоками, размер каждого = выравнивание самого требовательного поля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Внутри блока поля выравниваются, как обычно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размер структуры ≠ суммарный размер полей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Всё это позволяет хранить экземпляры структур в массивах, друг за другом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24000" y="1260000"/>
            <a:ext cx="489960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4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"/>
          <p:cNvGrpSpPr/>
          <p:nvPr/>
        </p:nvGrpSpPr>
        <p:grpSpPr>
          <a:xfrm>
            <a:off x="360000" y="4824360"/>
            <a:ext cx="2160000" cy="359640"/>
            <a:chOff x="360000" y="4824360"/>
            <a:chExt cx="2160000" cy="359640"/>
          </a:xfrm>
        </p:grpSpPr>
        <p:sp>
          <p:nvSpPr>
            <p:cNvPr id="269" name=""/>
            <p:cNvSpPr/>
            <p:nvPr/>
          </p:nvSpPr>
          <p:spPr>
            <a:xfrm>
              <a:off x="360000" y="4824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"/>
            <p:cNvSpPr/>
            <p:nvPr/>
          </p:nvSpPr>
          <p:spPr>
            <a:xfrm>
              <a:off x="416160" y="4824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"/>
            <p:cNvSpPr/>
            <p:nvPr/>
          </p:nvSpPr>
          <p:spPr>
            <a:xfrm>
              <a:off x="942840" y="4824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"/>
            <p:cNvSpPr/>
            <p:nvPr/>
          </p:nvSpPr>
          <p:spPr>
            <a:xfrm>
              <a:off x="1468080" y="4824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19947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4" name=""/>
          <p:cNvGrpSpPr/>
          <p:nvPr/>
        </p:nvGrpSpPr>
        <p:grpSpPr>
          <a:xfrm>
            <a:off x="2520000" y="4824720"/>
            <a:ext cx="2160000" cy="359640"/>
            <a:chOff x="2520000" y="4824720"/>
            <a:chExt cx="2160000" cy="359640"/>
          </a:xfrm>
        </p:grpSpPr>
        <p:sp>
          <p:nvSpPr>
            <p:cNvPr id="275" name=""/>
            <p:cNvSpPr/>
            <p:nvPr/>
          </p:nvSpPr>
          <p:spPr>
            <a:xfrm>
              <a:off x="2520000" y="482472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25761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3102840" y="482472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3628080" y="482508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41547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0" name=""/>
          <p:cNvGrpSpPr/>
          <p:nvPr/>
        </p:nvGrpSpPr>
        <p:grpSpPr>
          <a:xfrm>
            <a:off x="1440000" y="5257080"/>
            <a:ext cx="2160000" cy="359640"/>
            <a:chOff x="1440000" y="5257080"/>
            <a:chExt cx="2160000" cy="359640"/>
          </a:xfrm>
        </p:grpSpPr>
        <p:sp>
          <p:nvSpPr>
            <p:cNvPr id="281" name=""/>
            <p:cNvSpPr/>
            <p:nvPr/>
          </p:nvSpPr>
          <p:spPr>
            <a:xfrm>
              <a:off x="1440000" y="5257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1496160" y="5257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2022840" y="5257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2548080" y="5257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30747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6" name=""/>
          <p:cNvSpPr txBox="1"/>
          <p:nvPr/>
        </p:nvSpPr>
        <p:spPr>
          <a:xfrm>
            <a:off x="1692000" y="439200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Изменение выравнивания структур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52000" y="1872000"/>
            <a:ext cx="5017680" cy="21960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alignas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br>
              <a:rPr sz="1550"/>
            </a:b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16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512000" y="1584000"/>
            <a:ext cx="176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alignas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0" name=""/>
          <p:cNvGrpSpPr/>
          <p:nvPr/>
        </p:nvGrpSpPr>
        <p:grpSpPr>
          <a:xfrm>
            <a:off x="360000" y="4824720"/>
            <a:ext cx="2160000" cy="359640"/>
            <a:chOff x="360000" y="4824720"/>
            <a:chExt cx="2160000" cy="359640"/>
          </a:xfrm>
        </p:grpSpPr>
        <p:sp>
          <p:nvSpPr>
            <p:cNvPr id="291" name=""/>
            <p:cNvSpPr/>
            <p:nvPr/>
          </p:nvSpPr>
          <p:spPr>
            <a:xfrm>
              <a:off x="360000" y="482472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416160" y="4824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942840" y="482472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1468080" y="482508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19947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6" name=""/>
          <p:cNvGrpSpPr/>
          <p:nvPr/>
        </p:nvGrpSpPr>
        <p:grpSpPr>
          <a:xfrm>
            <a:off x="2520000" y="4825080"/>
            <a:ext cx="2160000" cy="359640"/>
            <a:chOff x="2520000" y="4825080"/>
            <a:chExt cx="2160000" cy="359640"/>
          </a:xfrm>
        </p:grpSpPr>
        <p:sp>
          <p:nvSpPr>
            <p:cNvPr id="297" name=""/>
            <p:cNvSpPr/>
            <p:nvPr/>
          </p:nvSpPr>
          <p:spPr>
            <a:xfrm>
              <a:off x="2520000" y="4825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2576160" y="4825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3102840" y="4825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3628080" y="4825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4154760" y="4825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2" name=""/>
          <p:cNvGrpSpPr/>
          <p:nvPr/>
        </p:nvGrpSpPr>
        <p:grpSpPr>
          <a:xfrm>
            <a:off x="360000" y="5257440"/>
            <a:ext cx="2160000" cy="359640"/>
            <a:chOff x="360000" y="5257440"/>
            <a:chExt cx="2160000" cy="359640"/>
          </a:xfrm>
        </p:grpSpPr>
        <p:sp>
          <p:nvSpPr>
            <p:cNvPr id="303" name=""/>
            <p:cNvSpPr/>
            <p:nvPr/>
          </p:nvSpPr>
          <p:spPr>
            <a:xfrm>
              <a:off x="360000" y="525744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4161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942840" y="525744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1468080" y="525780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199476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8" name=""/>
          <p:cNvSpPr txBox="1"/>
          <p:nvPr/>
        </p:nvSpPr>
        <p:spPr>
          <a:xfrm>
            <a:off x="1692000" y="446436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9" name=""/>
          <p:cNvGrpSpPr/>
          <p:nvPr/>
        </p:nvGrpSpPr>
        <p:grpSpPr>
          <a:xfrm>
            <a:off x="2520000" y="5257800"/>
            <a:ext cx="2160000" cy="359640"/>
            <a:chOff x="2520000" y="5257800"/>
            <a:chExt cx="2160000" cy="359640"/>
          </a:xfrm>
        </p:grpSpPr>
        <p:sp>
          <p:nvSpPr>
            <p:cNvPr id="310" name=""/>
            <p:cNvSpPr/>
            <p:nvPr/>
          </p:nvSpPr>
          <p:spPr>
            <a:xfrm>
              <a:off x="2520000" y="525780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257616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3102840" y="525780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3628080" y="525816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4154760" y="52581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?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5" name=""/>
          <p:cNvSpPr txBox="1"/>
          <p:nvPr/>
        </p:nvSpPr>
        <p:spPr>
          <a:xfrm>
            <a:off x="5256000" y="1800360"/>
            <a:ext cx="4899600" cy="2519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(push,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number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l2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 l3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#pragma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pack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(pop)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sizeof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7</a:t>
            </a:r>
            <a:br>
              <a:rPr sz="1550"/>
            </a:b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alignof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i="1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i="1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i="1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i="1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624000" y="1512360"/>
            <a:ext cx="1764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</a:t>
            </a:r>
            <a:r>
              <a:rPr b="0" lang="ru-RU" sz="18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pack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7" name=""/>
          <p:cNvGrpSpPr/>
          <p:nvPr/>
        </p:nvGrpSpPr>
        <p:grpSpPr>
          <a:xfrm>
            <a:off x="7616160" y="5257440"/>
            <a:ext cx="1707840" cy="359640"/>
            <a:chOff x="7616160" y="5257440"/>
            <a:chExt cx="1707840" cy="359640"/>
          </a:xfrm>
        </p:grpSpPr>
        <p:sp>
          <p:nvSpPr>
            <p:cNvPr id="318" name=""/>
            <p:cNvSpPr/>
            <p:nvPr/>
          </p:nvSpPr>
          <p:spPr>
            <a:xfrm>
              <a:off x="7616160" y="5257440"/>
              <a:ext cx="170784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82641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"/>
            <p:cNvSpPr/>
            <p:nvPr/>
          </p:nvSpPr>
          <p:spPr>
            <a:xfrm>
              <a:off x="8790840" y="525744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7724520" y="525780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2" name=""/>
          <p:cNvSpPr txBox="1"/>
          <p:nvPr/>
        </p:nvSpPr>
        <p:spPr>
          <a:xfrm>
            <a:off x="6660000" y="4896720"/>
            <a:ext cx="1728000" cy="4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9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CarNumber:</a:t>
            </a:r>
            <a:endParaRPr b="0" lang="ru-RU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3" name=""/>
          <p:cNvGrpSpPr/>
          <p:nvPr/>
        </p:nvGrpSpPr>
        <p:grpSpPr>
          <a:xfrm>
            <a:off x="5544000" y="5257080"/>
            <a:ext cx="2160000" cy="359640"/>
            <a:chOff x="5544000" y="5257080"/>
            <a:chExt cx="2160000" cy="359640"/>
          </a:xfrm>
        </p:grpSpPr>
        <p:sp>
          <p:nvSpPr>
            <p:cNvPr id="324" name=""/>
            <p:cNvSpPr/>
            <p:nvPr/>
          </p:nvSpPr>
          <p:spPr>
            <a:xfrm>
              <a:off x="5544000" y="525708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>
              <a:off x="5600160" y="525708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l1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6126840" y="525708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>
              <a:off x="6652080" y="525744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7178760" y="525744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n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 и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Пишем свой vector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6345360" y="1218600"/>
            <a:ext cx="3554640" cy="437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Начнём писать аналог vector&lt;int&gt;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Агрегатный тип: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Массив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Класс, где нет: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Пользовательского конструктора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Базового класса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Не-public членов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Виртуальных методов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агрегатных типов работает инициализация =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0" y="1260000"/>
            <a:ext cx="6433200" cy="4151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деструктор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516000" y="1326600"/>
            <a:ext cx="3279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Агрегатная инициализация всё ещё работает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0" y="1188000"/>
            <a:ext cx="643320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], 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arr2 = {.data_ = ..., .size_ = ...};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Добавляем конструктор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36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arr1(p, 2)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arr1 = {..., ...};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вызывает соответствующий конструктор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по-умолчанию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60000" y="1296000"/>
            <a:ext cx="5400000" cy="24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{}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при создании объекта IntVector мы всегда обязаны указать 2 аргумента конструктора: p и size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Чтобы можно было не передавать аргументов, определим конструктор без параметров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(=конструктор по умолчанию)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у класса ни один конструктор не определён явным образом, то компилятор сам создаст конструктор без параметров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std::initializer_list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initializer_list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++] 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elem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140000" cy="425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Список инициализации {...} теперь работает, как у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Синтаксис {…} всё ещё может вызвать конструктор от 2-х аргументов, если передать ему параметры нужных типов (int*, size_t)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initializer_list — это объект, содержащий указатель на начало массива и его размер. Поэтому его можно передавать по значению, а не по ссылке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от одного аргумента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arr1({10});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==IntVector arr3(10);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 этому конструктору не обратиться через {...}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Любой конструктор от одного аргумента может быть вызван неявно, когда используем оператор «=» во время создания переменной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explicit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explicit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]),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760000" y="1326600"/>
            <a:ext cx="40356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Запрещает вызывать конструктор от одного аргумента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во время создания переменной присвоить ей значение другой переменной того же типа, то вызовется конструктор копирования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конструктор копирования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Классы. Проблема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60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arr2.data_ = arr1.data_;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arr2.size_ = arr1.size_;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*/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10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 flipV="1">
            <a:off x="6264000" y="1944000"/>
            <a:ext cx="360000" cy="72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7" name=""/>
          <p:cNvGrpSpPr/>
          <p:nvPr/>
        </p:nvGrpSpPr>
        <p:grpSpPr>
          <a:xfrm>
            <a:off x="5760000" y="2808000"/>
            <a:ext cx="1800000" cy="359640"/>
            <a:chOff x="5760000" y="2808000"/>
            <a:chExt cx="1800000" cy="359640"/>
          </a:xfrm>
        </p:grpSpPr>
        <p:sp>
          <p:nvSpPr>
            <p:cNvPr id="358" name=""/>
            <p:cNvSpPr/>
            <p:nvPr/>
          </p:nvSpPr>
          <p:spPr>
            <a:xfrm>
              <a:off x="5760000" y="2808000"/>
              <a:ext cx="180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"/>
            <p:cNvSpPr/>
            <p:nvPr/>
          </p:nvSpPr>
          <p:spPr>
            <a:xfrm>
              <a:off x="5816160" y="2808000"/>
              <a:ext cx="8078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"/>
            <p:cNvSpPr/>
            <p:nvPr/>
          </p:nvSpPr>
          <p:spPr>
            <a:xfrm>
              <a:off x="6696000" y="2808360"/>
              <a:ext cx="80820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1" name=""/>
          <p:cNvGrpSpPr/>
          <p:nvPr/>
        </p:nvGrpSpPr>
        <p:grpSpPr>
          <a:xfrm>
            <a:off x="7740000" y="2808360"/>
            <a:ext cx="1800000" cy="359640"/>
            <a:chOff x="7740000" y="2808360"/>
            <a:chExt cx="1800000" cy="359640"/>
          </a:xfrm>
        </p:grpSpPr>
        <p:sp>
          <p:nvSpPr>
            <p:cNvPr id="362" name=""/>
            <p:cNvSpPr/>
            <p:nvPr/>
          </p:nvSpPr>
          <p:spPr>
            <a:xfrm>
              <a:off x="7740000" y="2808360"/>
              <a:ext cx="180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"/>
            <p:cNvSpPr/>
            <p:nvPr/>
          </p:nvSpPr>
          <p:spPr>
            <a:xfrm>
              <a:off x="7796160" y="2808360"/>
              <a:ext cx="8078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data</a:t>
              </a:r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_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"/>
            <p:cNvSpPr/>
            <p:nvPr/>
          </p:nvSpPr>
          <p:spPr>
            <a:xfrm>
              <a:off x="8676000" y="2808720"/>
              <a:ext cx="80820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size_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5" name=""/>
          <p:cNvSpPr/>
          <p:nvPr/>
        </p:nvSpPr>
        <p:spPr>
          <a:xfrm flipH="1" flipV="1">
            <a:off x="6660000" y="1944000"/>
            <a:ext cx="1499040" cy="720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6" name=""/>
          <p:cNvGrpSpPr/>
          <p:nvPr/>
        </p:nvGrpSpPr>
        <p:grpSpPr>
          <a:xfrm>
            <a:off x="6372000" y="1548360"/>
            <a:ext cx="2160000" cy="359640"/>
            <a:chOff x="6372000" y="1548360"/>
            <a:chExt cx="2160000" cy="359640"/>
          </a:xfrm>
        </p:grpSpPr>
        <p:sp>
          <p:nvSpPr>
            <p:cNvPr id="367" name=""/>
            <p:cNvSpPr/>
            <p:nvPr/>
          </p:nvSpPr>
          <p:spPr>
            <a:xfrm>
              <a:off x="6372000" y="1548360"/>
              <a:ext cx="2160000" cy="35928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6428160" y="154836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5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1</a:t>
              </a:r>
              <a:endParaRPr b="0" lang="ru-RU" sz="1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6954840" y="1548360"/>
              <a:ext cx="46908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2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7480080" y="1548720"/>
              <a:ext cx="47016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"/>
            <p:cNvSpPr/>
            <p:nvPr/>
          </p:nvSpPr>
          <p:spPr>
            <a:xfrm>
              <a:off x="8006760" y="1548720"/>
              <a:ext cx="469440" cy="35928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4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2" name=""/>
          <p:cNvSpPr txBox="1"/>
          <p:nvPr/>
        </p:nvSpPr>
        <p:spPr>
          <a:xfrm>
            <a:off x="6372000" y="3420000"/>
            <a:ext cx="587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arr1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316360" y="3420000"/>
            <a:ext cx="5871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arr2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360000" y="1116000"/>
            <a:ext cx="5400000" cy="448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: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//OK, нет ошибок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Переопределим конструктор копирования, используя механизм «делегирования конструкторов»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копирующая инициализация работает, как задумано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Ошибок двойного освобождения памяти нет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Проблема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360000" y="1116000"/>
            <a:ext cx="5400000" cy="42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550"/>
            </a:b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Arial"/>
                <a:ea typeface="Noto Sans CJK SC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Arial"/>
                <a:ea typeface="Noto Sans CJK SC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Arial"/>
                <a:ea typeface="Noto Sans CJK SC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Arial"/>
                <a:ea typeface="Noto Sans CJK SC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Arial"/>
                <a:ea typeface="Noto Sans CJK SC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Arial"/>
                <a:ea typeface="Noto Sans CJK SC"/>
              </a:rPr>
              <a:t>;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Arial"/>
                <a:ea typeface="Noto Sans CJK SC"/>
              </a:rPr>
              <a:t>// 10</a:t>
            </a:r>
            <a:br>
              <a:rPr sz="1550"/>
            </a:b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//Ошибка: двойное освобождение памяти!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5760000" y="1254600"/>
            <a:ext cx="40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после создания переменной присвоить ей значение другой переменной того же типа, то вызовется оператор присваивания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сам определяет оператор присваивания для всех классов так, что тот копирует все поля одного класса в соответствующие поля другого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Мы можем переопределить его поведение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60000" y="1080000"/>
            <a:ext cx="6480000" cy="45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-&gt;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~IntVector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6660000" y="1146960"/>
            <a:ext cx="313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Оператор присваивания возвращает ссылку на свой левый операнд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operator[ ] и метод size()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360000" y="1080000"/>
            <a:ext cx="414000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   size_t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 ++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 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6120000" y="1254960"/>
            <a:ext cx="3675600" cy="40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Теперь к элементам IntVector можно обращаться, как к элементам массива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Поля data_ и size_ можно сделать приватными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Семантика перемещений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значения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5332680" y="150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— всё, что может стоять слева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Переменные, указатели, ссылки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— всё, что не может стоять лева от «=»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Временные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Указатели могут ссылаться только на l-value или C-строки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0" y="1584000"/>
            <a:ext cx="5253840" cy="1782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char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q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0" y="3276360"/>
            <a:ext cx="4536000" cy="144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l-value: a, b, p, q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r-value: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/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4.0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, &amp;a,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"Compiler",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и r-value ссылки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Существуют 2 типа ссылок: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l-value значение (далее: l-value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Ссылка на r-value значение (далее: r-value ссылка)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504000" y="1368000"/>
            <a:ext cx="2584080" cy="1782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l-value ссылка: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l_ref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r-value ссылка: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r_ref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Постановка проблемы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6000" y="1188000"/>
            <a:ext cx="512100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750"/>
            </a:b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7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Ошибка!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5657400" y="1290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Функцию average нельзя вызвать от r-value значения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ссылка на r-value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6360" y="1188720"/>
            <a:ext cx="5479920" cy="4489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accumulate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begin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end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(),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0.0</a:t>
            </a:r>
            <a:br>
              <a:rPr sz="1550"/>
            </a:b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sum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/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average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({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});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OK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5657040" y="1290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→ const T&amp;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выполняется неявно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ссылка на l-value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3352680" y="1326600"/>
            <a:ext cx="37033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Разрешено преобразование: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l-value →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Это преобразование должно быть выполнено явно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example1.cpp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Копирование аргументов при вызове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Определять для каждой задачи 2 функции — долго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копипаста — определим одну функцию, принимающую IntVector, а не &amp; или 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Тогда аргумент myMetric1 станет аргументом конструктора IntVector при создании переменной param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Чтобы избежать копирования, нужно грамотно реализовать конструктор от IntVector&amp;&amp;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80000" y="1584000"/>
            <a:ext cx="5121000" cy="31359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param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 */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param(arr);</a:t>
            </a:r>
            <a:br>
              <a:rPr sz="1750"/>
            </a:b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myMetric1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&amp;&amp;)arr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750"/>
            </a:br>
            <a:r>
              <a:rPr b="0" i="1" lang="ru-RU" sz="17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IntVector param((IntVector&amp;&amp;)arr);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конструктор копирования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Дополним класс IntVector ещё одним конструктором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Ему подаётся на вход ссылка на другой, «временный», объект IntVector, который вызывающему коду более не нужен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Поэтому мы можем «захватить» динамическую память, используемую переданным объектом, а после — порвать его связь с этой памятью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540000" y="1476000"/>
            <a:ext cx="4104000" cy="27975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: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550"/>
            </a:b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Перемещающий оператор присваивания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472000" y="1440000"/>
            <a:ext cx="4392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Действует аналогично перемещающему конструктору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Позволяет перемещать уже созданные объекты: 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20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9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20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36000" y="1476000"/>
            <a:ext cx="537012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== &amp;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size_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871094"/>
                </a:solidFill>
                <a:effectLst/>
                <a:uFillTx/>
                <a:latin typeface="JetBrains Mono"/>
                <a:ea typeface="JetBrains Mono"/>
              </a:rPr>
              <a:t>data_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Возврат из функции локального объекта класса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36000" y="1548000"/>
            <a:ext cx="574380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400"/>
            </a:b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3" name=""/>
          <p:cNvGrpSpPr/>
          <p:nvPr/>
        </p:nvGrpSpPr>
        <p:grpSpPr>
          <a:xfrm>
            <a:off x="5796000" y="2160000"/>
            <a:ext cx="1260000" cy="2880000"/>
            <a:chOff x="5796000" y="2160000"/>
            <a:chExt cx="1260000" cy="2880000"/>
          </a:xfrm>
        </p:grpSpPr>
        <p:sp>
          <p:nvSpPr>
            <p:cNvPr id="414" name=""/>
            <p:cNvSpPr/>
            <p:nvPr/>
          </p:nvSpPr>
          <p:spPr>
            <a:xfrm>
              <a:off x="5796000" y="2160000"/>
              <a:ext cx="1260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"/>
            <p:cNvSpPr/>
            <p:nvPr/>
          </p:nvSpPr>
          <p:spPr>
            <a:xfrm>
              <a:off x="5976000" y="2224440"/>
              <a:ext cx="900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"/>
            <p:cNvSpPr/>
            <p:nvPr/>
          </p:nvSpPr>
          <p:spPr>
            <a:xfrm>
              <a:off x="5976360" y="2728800"/>
              <a:ext cx="899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>
              <a:off x="5976720" y="3305160"/>
              <a:ext cx="899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"/>
            <p:cNvSpPr/>
            <p:nvPr/>
          </p:nvSpPr>
          <p:spPr>
            <a:xfrm>
              <a:off x="5977080" y="3845520"/>
              <a:ext cx="89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"/>
            <p:cNvSpPr/>
            <p:nvPr/>
          </p:nvSpPr>
          <p:spPr>
            <a:xfrm>
              <a:off x="5977440" y="4385880"/>
              <a:ext cx="8985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0" name=""/>
          <p:cNvGrpSpPr/>
          <p:nvPr/>
        </p:nvGrpSpPr>
        <p:grpSpPr>
          <a:xfrm>
            <a:off x="7236000" y="2160000"/>
            <a:ext cx="2700000" cy="2880000"/>
            <a:chOff x="7236000" y="2160000"/>
            <a:chExt cx="2700000" cy="2880000"/>
          </a:xfrm>
        </p:grpSpPr>
        <p:sp>
          <p:nvSpPr>
            <p:cNvPr id="421" name=""/>
            <p:cNvSpPr/>
            <p:nvPr/>
          </p:nvSpPr>
          <p:spPr>
            <a:xfrm>
              <a:off x="7236000" y="2160000"/>
              <a:ext cx="2700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"/>
            <p:cNvSpPr/>
            <p:nvPr/>
          </p:nvSpPr>
          <p:spPr>
            <a:xfrm>
              <a:off x="7621560" y="2224440"/>
              <a:ext cx="19288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"/>
            <p:cNvSpPr/>
            <p:nvPr/>
          </p:nvSpPr>
          <p:spPr>
            <a:xfrm>
              <a:off x="7621920" y="2728800"/>
              <a:ext cx="19285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"/>
            <p:cNvSpPr/>
            <p:nvPr/>
          </p:nvSpPr>
          <p:spPr>
            <a:xfrm>
              <a:off x="7623360" y="3305160"/>
              <a:ext cx="19270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7624080" y="3845520"/>
              <a:ext cx="19263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7624800" y="4385880"/>
              <a:ext cx="1925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7" name=""/>
          <p:cNvSpPr/>
          <p:nvPr/>
        </p:nvSpPr>
        <p:spPr>
          <a:xfrm>
            <a:off x="6876000" y="2340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6871320" y="3492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866640" y="4572000"/>
            <a:ext cx="745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524000" y="1692000"/>
            <a:ext cx="2095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6084360" y="1692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Оптимизация возврата из функции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6000" y="1548000"/>
            <a:ext cx="5743800" cy="38127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&amp;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arr3(arr1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+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size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400"/>
            </a:b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4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(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&amp;&amp;)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4" name=""/>
          <p:cNvGrpSpPr/>
          <p:nvPr/>
        </p:nvGrpSpPr>
        <p:grpSpPr>
          <a:xfrm>
            <a:off x="5796000" y="2160000"/>
            <a:ext cx="1116000" cy="2880000"/>
            <a:chOff x="5796000" y="2160000"/>
            <a:chExt cx="1116000" cy="2880000"/>
          </a:xfrm>
        </p:grpSpPr>
        <p:sp>
          <p:nvSpPr>
            <p:cNvPr id="435" name=""/>
            <p:cNvSpPr/>
            <p:nvPr/>
          </p:nvSpPr>
          <p:spPr>
            <a:xfrm>
              <a:off x="5796000" y="2160000"/>
              <a:ext cx="1116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5904000" y="2224440"/>
              <a:ext cx="900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arr6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"/>
            <p:cNvSpPr/>
            <p:nvPr/>
          </p:nvSpPr>
          <p:spPr>
            <a:xfrm>
              <a:off x="5904360" y="2728800"/>
              <a:ext cx="89964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5904720" y="3305160"/>
              <a:ext cx="899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ret val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5905080" y="3845520"/>
              <a:ext cx="8989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"/>
            <p:cNvSpPr/>
            <p:nvPr/>
          </p:nvSpPr>
          <p:spPr>
            <a:xfrm>
              <a:off x="5905440" y="4385880"/>
              <a:ext cx="89856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1" name=""/>
          <p:cNvGrpSpPr/>
          <p:nvPr/>
        </p:nvGrpSpPr>
        <p:grpSpPr>
          <a:xfrm>
            <a:off x="7272000" y="2160000"/>
            <a:ext cx="2628000" cy="2880000"/>
            <a:chOff x="7272000" y="2160000"/>
            <a:chExt cx="2628000" cy="2880000"/>
          </a:xfrm>
        </p:grpSpPr>
        <p:sp>
          <p:nvSpPr>
            <p:cNvPr id="442" name=""/>
            <p:cNvSpPr/>
            <p:nvPr/>
          </p:nvSpPr>
          <p:spPr>
            <a:xfrm>
              <a:off x="7272000" y="2160000"/>
              <a:ext cx="2628000" cy="28800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"/>
            <p:cNvSpPr/>
            <p:nvPr/>
          </p:nvSpPr>
          <p:spPr>
            <a:xfrm>
              <a:off x="7441560" y="2224440"/>
              <a:ext cx="22888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IntVector(&amp;&amp;ret val)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"/>
            <p:cNvSpPr/>
            <p:nvPr/>
          </p:nvSpPr>
          <p:spPr>
            <a:xfrm>
              <a:off x="7441920" y="2728800"/>
              <a:ext cx="22885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"/>
            <p:cNvSpPr/>
            <p:nvPr/>
          </p:nvSpPr>
          <p:spPr>
            <a:xfrm>
              <a:off x="7443720" y="3305160"/>
              <a:ext cx="228672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IntVector(&amp;&amp;arr3)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"/>
            <p:cNvSpPr/>
            <p:nvPr/>
          </p:nvSpPr>
          <p:spPr>
            <a:xfrm>
              <a:off x="7444440" y="3845520"/>
              <a:ext cx="228600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...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"/>
            <p:cNvSpPr/>
            <p:nvPr/>
          </p:nvSpPr>
          <p:spPr>
            <a:xfrm>
              <a:off x="7445160" y="4385880"/>
              <a:ext cx="2285280" cy="360000"/>
            </a:xfrm>
            <a:prstGeom prst="roundRect">
              <a:avLst>
                <a:gd name="adj" fmla="val 16667"/>
              </a:avLst>
            </a:prstGeom>
            <a:solidFill>
              <a:srgbClr val="3465a4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/>
              <a:r>
                <a:rPr b="0" lang="ru-RU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rPr>
                <a:t>arr3</a:t>
              </a:r>
              <a:endPara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8" name=""/>
          <p:cNvSpPr/>
          <p:nvPr/>
        </p:nvSpPr>
        <p:spPr>
          <a:xfrm>
            <a:off x="6804000" y="241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488000" y="1692000"/>
            <a:ext cx="2095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 время «return»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012360" y="1692000"/>
            <a:ext cx="675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Стек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6799320" y="349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6794640" y="4572000"/>
            <a:ext cx="637560" cy="0"/>
          </a:xfrm>
          <a:prstGeom prst="line">
            <a:avLst/>
          </a:prstGeom>
          <a:ln w="19080">
            <a:solidFill>
              <a:srgbClr val="87109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504000" y="13680"/>
            <a:ext cx="9071640" cy="187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Семантика перемещений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(move-семантика).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std::move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16360" y="2016360"/>
            <a:ext cx="5668560" cy="3474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ru-RU" sz="150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0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&lt;utility&gt;</a:t>
            </a:r>
            <a:br>
              <a:rPr sz="1500"/>
            </a:b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arr1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arr2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/* ... */</a:t>
            </a:r>
            <a:br>
              <a:rPr sz="1500"/>
            </a:b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arr3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00"/>
            </a:b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0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arr4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8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00"/>
            </a:b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arr5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9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00"/>
            </a:b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arr6 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::move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sort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arr4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arr5</a:t>
            </a:r>
            <a:r>
              <a:rPr b="0" lang="ru-RU" sz="15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6120000" y="2250000"/>
            <a:ext cx="3744000" cy="24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std::move принимает T и возвращает T&amp;&amp;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move-семантика — концепция, при которой ненужные более объекты перемещаются, а не копируются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504000" y="326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Основные правила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move-семантики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180000" y="2250000"/>
            <a:ext cx="9684000" cy="31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возвращении локальной переменной из функции</a:t>
            </a:r>
            <a:br>
              <a:rPr sz="2000"/>
            </a:b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==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return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(a)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При работе с любым r-value значением</a:t>
            </a:r>
            <a:br>
              <a:rPr sz="2000"/>
            </a:b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r-value == </a:t>
            </a:r>
            <a:r>
              <a:rPr b="0" lang="ru-RU" sz="2000" strike="noStrike" u="none">
                <a:solidFill>
                  <a:srgbClr val="00627a"/>
                </a:solidFill>
                <a:effectLst/>
                <a:uFillTx/>
                <a:latin typeface="Arial"/>
              </a:rPr>
              <a:t>move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(r-value)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080000" y="1728000"/>
            <a:ext cx="7635600" cy="402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i="1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Компилятор автоматически преобразует T к T&amp;&amp; при: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Ключевое слово noexcept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8360" y="1512360"/>
            <a:ext cx="5291640" cy="21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struct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550"/>
            </a:b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 */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operator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=(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other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noexcept;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5400000" y="1440000"/>
            <a:ext cx="432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Этим словом помечается метод, не бросающий исключений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Перемещающие конструктор и оператор присваивания стоит объявлять как noexcept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противном случае стандартные контейнеры будут использовать их копирующие аналоги (подробнее — на сайте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metanit.com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std::unique_ptr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08360" y="1368360"/>
            <a:ext cx="529164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0x5f9d457d42f0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*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reset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20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0x5a23dd3fa310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move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5400000" y="1404000"/>
            <a:ext cx="4500000" cy="41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единоличное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unique_ptr удалён конструктор копирования, его объекты можно только перемещать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Методы: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get()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возвращает «сырой» указатель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reset(T*)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— освобождает память предыдущего объекта и захватывает новый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std::shared_ptr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08360" y="1404360"/>
            <a:ext cx="5291640" cy="415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100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Адрес: 0x5f42a0fe2770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"Новое значение: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] 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Новое значение: 12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"Новый адрес: "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Новый адрес: 0x5f42a0fe2770</a:t>
            </a:r>
            <a:br>
              <a:rPr sz="1550"/>
            </a:b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std::shared_ptr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500000" cy="42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Класс-обёртка над указателем, обеспечивающий множественное пользование хранимым объектом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Может ссылаться на массивы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 shared_ptr конструктор копирования копирует лишь указатели, обеспечивая хранимый объект несколькими владельцами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Память хранимого объекта очищается лишь после удаления последнего shared_ptr, связанного с ним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Методы, как у unique_ptr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504000" y="4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72000" y="1335240"/>
            <a:ext cx="5291640" cy="245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550" strike="noStrike" u="none">
                <a:solidFill>
                  <a:srgbClr val="9e880d"/>
                </a:solidFill>
                <a:effectLst/>
                <a:uFillTx/>
                <a:latin typeface="JetBrains Mono"/>
                <a:ea typeface="JetBrains Mono"/>
              </a:rPr>
              <a:t>#include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&lt;memory&gt;</a:t>
            </a:r>
            <a:br>
              <a:rPr sz="1550"/>
            </a:br>
            <a:r>
              <a:rPr b="0" i="1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/* ...*/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1550" strike="noStrike" u="none">
                <a:solidFill>
                  <a:srgbClr val="2a6099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cout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nullptr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&lt;&lt; 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037a6"/>
                </a:solidFill>
                <a:effectLst/>
                <a:uFillTx/>
                <a:latin typeface="JetBrains Mono"/>
                <a:ea typeface="JetBrains Mono"/>
              </a:rPr>
              <a:t>\n</a:t>
            </a:r>
            <a:r>
              <a:rPr b="0" lang="ru-RU" sz="1550" strike="noStrike" u="none">
                <a:solidFill>
                  <a:srgbClr val="067d17"/>
                </a:solidFill>
                <a:effectLst/>
                <a:uFillTx/>
                <a:latin typeface="JetBrains Mono"/>
                <a:ea typeface="JetBrains Mono"/>
              </a:rPr>
              <a:t>'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550"/>
            </a:br>
            <a:r>
              <a:rPr b="0" lang="ru-RU" sz="1550" strike="noStrike" u="none">
                <a:solidFill>
                  <a:srgbClr val="8c8c8c"/>
                </a:solidFill>
                <a:effectLst/>
                <a:uFillTx/>
                <a:latin typeface="JetBrains Mono"/>
                <a:ea typeface="JetBrains Mono"/>
              </a:rPr>
              <a:t>// 1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550"/>
            </a:b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5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ptr2 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5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make_shared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5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double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55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6.7</a:t>
            </a:r>
            <a:r>
              <a:rPr b="0" lang="ru-RU" sz="15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b="0" lang="ru-RU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5400000" y="1260000"/>
            <a:ext cx="450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Инициализируются значением </a:t>
            </a:r>
            <a:r>
              <a:rPr b="0" lang="ru-RU" sz="2000" strike="noStrike" u="none">
                <a:solidFill>
                  <a:srgbClr val="0033b3"/>
                </a:solidFill>
                <a:effectLst/>
                <a:uFillTx/>
                <a:latin typeface="Arial"/>
              </a:rPr>
              <a:t>nullptr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по-умолчанию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Функции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std::make_unique()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и </a:t>
            </a:r>
            <a:r>
              <a:rPr b="0" lang="ru-RU" sz="2000" strike="noStrike" u="none">
                <a:solidFill>
                  <a:srgbClr val="2a6099"/>
                </a:solidFill>
                <a:effectLst/>
                <a:uFillTx/>
                <a:latin typeface="Arial"/>
              </a:rPr>
              <a:t>std::make_shared()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принимают объект и возвращают умный указатель на его копию в динамической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Умные указатели. </a:t>
            </a:r>
            <a:br>
              <a:rPr sz="4400"/>
            </a:b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Собственная реализация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2808000" y="1476000"/>
            <a:ext cx="450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см. файлы unique.hpp и shared.hpp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Гарантии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180000" y="1872000"/>
            <a:ext cx="9720000" cy="27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Полная гарантия: функция не бросает исключений (noexcept)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гарантия: если во время исполнения функции выбрасывается исключение, она обязуется вернуть все данные программы к их состоянию до вызова этой функции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Базовая гарантия: </a:t>
            </a: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если во время исполнения функции выбрасывается исключение, она обязуется оставить данные программы в неком согласованном (годном для дальнейшего использования) виде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72000" y="1443240"/>
            <a:ext cx="6948000" cy="347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get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std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function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)&gt;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*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int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{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initial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size_t 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 ++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 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func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- </a:t>
            </a:r>
            <a:r>
              <a:rPr b="0" lang="ru-RU" sz="1400" strike="noStrike" u="none">
                <a:solidFill>
                  <a:srgbClr val="1750eb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 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pos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delete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[]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arr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4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res</a:t>
            </a: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400"/>
            </a:br>
            <a:r>
              <a:rPr b="0" lang="ru-RU" sz="14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/>
          </p:nvPr>
        </p:nvSpPr>
        <p:spPr>
          <a:xfrm>
            <a:off x="7020000" y="1432440"/>
            <a:ext cx="3060000" cy="30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Возможна утечка памяти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Данная функция не обеспечивает никакой гарантии безопасности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Правильный подход — использовать vector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Проблема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72000" y="1335240"/>
            <a:ext cx="9828000" cy="178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180000" y="3168000"/>
            <a:ext cx="9720000" cy="23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Порядок выполнения инструкций: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temp1 = </a:t>
            </a: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temp2 =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Если исключение будет брошено сейчас, то будет утечка памяти!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 =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IntVecPtr(temp1)</a:t>
            </a:r>
            <a:br>
              <a:rPr sz="1700"/>
            </a:b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temp4 = IntVecPtr(temp2)</a:t>
            </a:r>
            <a:br>
              <a:rPr sz="1700"/>
            </a:br>
            <a:r>
              <a:rPr b="0" lang="ru-RU" sz="170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IntVecPtr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temp3), </a:t>
            </a:r>
            <a:r>
              <a:rPr b="0" lang="ru-RU" sz="170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(temp4</a:t>
            </a:r>
            <a:r>
              <a:rPr b="0" lang="ru-RU" sz="170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504000" y="2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Строгая гарантия безопасности исключений. Решение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2000" y="1335240"/>
            <a:ext cx="9828000" cy="21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IntVector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using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unique_ptr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&gt;;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br>
              <a:rPr sz="1750"/>
            </a:b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{make_unique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make_unique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72000" y="3711600"/>
            <a:ext cx="9828000" cy="178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&lt;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&gt;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makeUniquePair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const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&amp;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auto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 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IVecPtr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IVec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b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))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b="0" lang="ru-RU" sz="1750" strike="noStrike" u="none">
                <a:solidFill>
                  <a:srgbClr val="0033b3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make_pair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vecA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), </a:t>
            </a:r>
            <a:r>
              <a:rPr b="0" lang="ru-RU" sz="1750" strike="noStrike" u="none">
                <a:solidFill>
                  <a:srgbClr val="00627a"/>
                </a:solidFill>
                <a:effectLst/>
                <a:uFillTx/>
                <a:latin typeface="JetBrains Mono"/>
                <a:ea typeface="JetBrains Mono"/>
              </a:rPr>
              <a:t>move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b="0" lang="ru-RU" sz="1750" strike="noStrike" u="none">
                <a:solidFill>
                  <a:srgbClr val="000000"/>
                </a:solidFill>
                <a:effectLst/>
                <a:uFillTx/>
                <a:latin typeface="JetBrains Mono"/>
                <a:ea typeface="JetBrains Mono"/>
              </a:rPr>
              <a:t>vecB</a:t>
            </a: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750"/>
            </a:br>
            <a:r>
              <a:rPr b="0" lang="ru-RU" sz="1750" strike="noStrike" u="none">
                <a:solidFill>
                  <a:srgbClr val="080808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b="0" lang="ru-RU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2025-11-17T16:08:28Z</dcterms:created>
  <dc:creator/>
  <dc:description/>
  <dc:language>ru-RU</dc:language>
  <cp:lastModifiedBy/>
  <dcterms:modified xsi:type="dcterms:W3CDTF">2025-11-23T19:05:11Z</dcterms:modified>
  <cp:revision>77</cp:revision>
  <dc:subject/>
  <dc:title/>
</cp:coreProperties>
</file>