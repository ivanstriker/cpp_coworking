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_rels/slide22.xml.rels" ContentType="application/vnd.openxmlformats-package.relationships+xml"/>
  <Override PartName="/ppt/slides/_rels/slide35.xml.rels" ContentType="application/vnd.openxmlformats-package.relationships+xml"/>
  <Override PartName="/ppt/slides/_rels/slide45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0.xml.rels" ContentType="application/vnd.openxmlformats-package.relationships+xml"/>
  <Override PartName="/ppt/slides/_rels/slide4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47.xml.rels" ContentType="application/vnd.openxmlformats-package.relationships+xml"/>
  <Override PartName="/ppt/slides/_rels/slide3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64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.xml.rels" ContentType="application/vnd.openxmlformats-package.relationships+xml"/>
  <Override PartName="/ppt/slides/_rels/slide50.xml.rels" ContentType="application/vnd.openxmlformats-package.relationships+xml"/>
  <Override PartName="/ppt/slides/_rels/slide42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51.xml.rels" ContentType="application/vnd.openxmlformats-package.relationships+xml"/>
  <Override PartName="/ppt/slides/_rels/slide43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52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53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49.xml.rels" ContentType="application/vnd.openxmlformats-package.relationships+xml"/>
  <Override PartName="/ppt/slides/_rels/slide14.xml.rels" ContentType="application/vnd.openxmlformats-package.relationships+xml"/>
  <Override PartName="/ppt/slides/_rels/slide48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44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923A98-6E42-4590-9AC3-C480051C0AC5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DD05AD-435D-43C9-A2E8-7627ACBFACCB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222614-9DD1-4AA9-8984-EFBD79DF741B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FB6DA9-B2C3-452C-89E1-FB6CEE1BED70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hyperlink" Target="https://metanit.com/cpp/tutorial/14.4.php" TargetMode="External"/><Relationship Id="rId2" Type="http://schemas.openxmlformats.org/officeDocument/2006/relationships/slideLayout" Target="../slideLayouts/slideLayout4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360" y="1897200"/>
            <a:ext cx="9071280" cy="187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Управление памятью в C++.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Указатели, ссылки,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move-семантика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Сегменты памяти и их устройство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Сегменты памяти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ОЗУ: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кода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данных: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глобальных данных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 вызовов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Динамическая память (куча)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Регистры процессора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40000" y="-36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глобальных данных.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Глобальные переменные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220000" y="1620000"/>
            <a:ext cx="442656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Всегда инициализируются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Проблема порядка инициализации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40000" y="1659240"/>
            <a:ext cx="4679640" cy="31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a1 == 0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a2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a3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a4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{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 s1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Переменная s == "" 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Функция "s"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1620000" y="1080000"/>
            <a:ext cx="1799640" cy="39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 вызовов. Общие сведения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148720" y="1260000"/>
            <a:ext cx="442656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Складываются локальные переменные и временные значения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У каждого потока свой стек вызовов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Размер стека по-умолчанию: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Linux: 8 Мб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ulimit -s &lt;размер в Кб&gt;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Windows, MacOS: 1 Мб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Устанавливается через настройки компилятора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800360" y="115236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main()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800360" y="158436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 = ?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800360" y="158436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800360" y="158436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average()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7" name=""/>
          <p:cNvGrpSpPr/>
          <p:nvPr/>
        </p:nvGrpSpPr>
        <p:grpSpPr>
          <a:xfrm>
            <a:off x="0" y="1064880"/>
            <a:ext cx="1620000" cy="539640"/>
            <a:chOff x="0" y="1064880"/>
            <a:chExt cx="1620000" cy="539640"/>
          </a:xfrm>
        </p:grpSpPr>
        <p:sp>
          <p:nvSpPr>
            <p:cNvPr id="38" name=""/>
            <p:cNvSpPr/>
            <p:nvPr/>
          </p:nvSpPr>
          <p:spPr>
            <a:xfrm flipV="1">
              <a:off x="720000" y="1064880"/>
              <a:ext cx="900000" cy="19368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0" y="1258560"/>
              <a:ext cx="152712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frame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" name=""/>
          <p:cNvGrpSpPr/>
          <p:nvPr/>
        </p:nvGrpSpPr>
        <p:grpSpPr>
          <a:xfrm>
            <a:off x="3420000" y="1467360"/>
            <a:ext cx="1656360" cy="489960"/>
            <a:chOff x="3420000" y="1467360"/>
            <a:chExt cx="1656360" cy="489960"/>
          </a:xfrm>
        </p:grpSpPr>
        <p:sp>
          <p:nvSpPr>
            <p:cNvPr id="41" name=""/>
            <p:cNvSpPr/>
            <p:nvPr/>
          </p:nvSpPr>
          <p:spPr>
            <a:xfrm flipH="1" flipV="1">
              <a:off x="3420000" y="1467360"/>
              <a:ext cx="540000" cy="18000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3600000" y="1611360"/>
              <a:ext cx="147636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stack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 вызовов. Пример работы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112000" y="1208520"/>
            <a:ext cx="4987080" cy="38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result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result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main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g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g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/=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620000" y="1080000"/>
            <a:ext cx="1799640" cy="39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46" name=""/>
          <p:cNvGrpSpPr/>
          <p:nvPr/>
        </p:nvGrpSpPr>
        <p:grpSpPr>
          <a:xfrm>
            <a:off x="0" y="1080000"/>
            <a:ext cx="1620000" cy="539640"/>
            <a:chOff x="0" y="1080000"/>
            <a:chExt cx="1620000" cy="539640"/>
          </a:xfrm>
        </p:grpSpPr>
        <p:sp>
          <p:nvSpPr>
            <p:cNvPr id="47" name=""/>
            <p:cNvSpPr/>
            <p:nvPr/>
          </p:nvSpPr>
          <p:spPr>
            <a:xfrm flipV="1">
              <a:off x="720000" y="1080000"/>
              <a:ext cx="900000" cy="19368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0" y="1273680"/>
              <a:ext cx="152712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frame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" name=""/>
          <p:cNvSpPr/>
          <p:nvPr/>
        </p:nvSpPr>
        <p:spPr>
          <a:xfrm>
            <a:off x="1800000" y="115200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f = 12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800000" y="158400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 = ?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800360" y="201636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ret val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800720" y="244872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ret addr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801080" y="288108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prev frame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801440" y="331344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b = 22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801800" y="374580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 = 12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802160" y="417816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result = ?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802520" y="461052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 + b = 34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802520" y="417852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result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9" name=""/>
          <p:cNvGrpSpPr/>
          <p:nvPr/>
        </p:nvGrpSpPr>
        <p:grpSpPr>
          <a:xfrm>
            <a:off x="3420000" y="1476000"/>
            <a:ext cx="1656360" cy="489960"/>
            <a:chOff x="3420000" y="1476000"/>
            <a:chExt cx="1656360" cy="489960"/>
          </a:xfrm>
        </p:grpSpPr>
        <p:sp>
          <p:nvSpPr>
            <p:cNvPr id="60" name=""/>
            <p:cNvSpPr/>
            <p:nvPr/>
          </p:nvSpPr>
          <p:spPr>
            <a:xfrm flipH="1" flipV="1">
              <a:off x="3420000" y="1476000"/>
              <a:ext cx="540000" cy="18000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3600000" y="1620000"/>
              <a:ext cx="1476360" cy="34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stack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"/>
          <p:cNvSpPr/>
          <p:nvPr/>
        </p:nvSpPr>
        <p:spPr>
          <a:xfrm>
            <a:off x="1800720" y="201672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ret val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800000" y="158400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800000" y="1584000"/>
            <a:ext cx="1439640" cy="35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 = 1.13333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0602527912257383 L -3.57142857142857E-005 0.07949567417902 E">
                                      <p:cBhvr>
                                        <p:cTn id="8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134486201995524 C -3.57142857142857E-005 0.155593153118993 -3.57142857142857E-005 0.155593153118993 -3.57142857142857E-005 0.155593153118993 E">
                                      <p:cBhvr>
                                        <p:cTn id="14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209989382119697 C -3.57142857142857E-005 0.226772522642209 -3.57142857142857E-005 0.226772522642209 -3.57142857142857E-005 0.226772522642209 E">
                                      <p:cBhvr>
                                        <p:cTn id="20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291078125002842 C -3.57142857142857E-005 0.333285844084961 -3.57142857142857E-005 0.312181984543902 -3.57142857142857E-005 0.312181984543902 E">
                                      <p:cBhvr>
                                        <p:cTn id="26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8571428571429 0.0756825396825397 L -0.00178571428571429 0.380444444444445 E">
                                      <p:cBhvr>
                                        <p:cTn id="28" dur="10" fill="hold"/>
                                        <p:tgtEl>
                                          <p:spTgt spid="4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36914706774567 C -3.57142857142857E-005 0.40964625358778 -3.57142857142857E-005 0.389396660666725 -3.57142857142857E-005 0.389396660666725 E">
                                      <p:cBhvr>
                                        <p:cTn id="34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44115029404377 L -3.57142857142857E-005 0.460605193977226 E">
                                      <p:cBhvr>
                                        <p:cTn id="40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513590415639462 L -3.57142857142857E-005 0.539540850309243 E">
                                      <p:cBhvr>
                                        <p:cTn id="46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588016262272393 L -3.57142857142857E-005 0.611112149128498 E">
                                      <p:cBhvr>
                                        <p:cTn id="52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604679009178169 L -3.57142857142857E-005 0.539181160801563 E">
                                      <p:cBhvr>
                                        <p:cTn id="58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50431746031746 C -3.57142857142857E-005 0.091619047619047 -3.57142857142857E-005 0.409079365079365 -3.57142857142857E-005 0.155111111111111 E">
                                      <p:cBhvr>
                                        <p:cTn id="80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8571428571429 0.304253968253968 L -0.00178571428571429 -0.000507936507937012 E">
                                      <p:cBhvr>
                                        <p:cTn id="82" dur="10" fill="hold"/>
                                        <p:tgtEl>
                                          <p:spTgt spid="4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142412698412698 C -3.57142857142857E-005 0.0789206349206345 -3.57142857142857E-005 0.0789206349206345 -3.57142857142857E-005 0.0789206349206345 E">
                                      <p:cBhvr>
                                        <p:cTn id="92" dur="10" fill="hold"/>
                                        <p:tgtEl>
                                          <p:spTgt spid="5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Переменные, указатели, ссылки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Переменные в памяти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Переменная = адрес первого байта + кол-во байт + способ интерпретации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Разряды могут располагаться в разном порядке в зависимости от железа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Отрицательные целые числа: дополнительный код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Вещественные числа = мантисса + экспонента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04000" y="1800000"/>
            <a:ext cx="413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612000" y="1800000"/>
            <a:ext cx="899640" cy="71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44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620360" y="1800360"/>
            <a:ext cx="899640" cy="71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628720" y="1800720"/>
            <a:ext cx="899640" cy="71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637080" y="1801080"/>
            <a:ext cx="899640" cy="71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23800" y="1260000"/>
            <a:ext cx="17830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300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"/>
          <p:cNvGrpSpPr/>
          <p:nvPr/>
        </p:nvGrpSpPr>
        <p:grpSpPr>
          <a:xfrm>
            <a:off x="540000" y="3598920"/>
            <a:ext cx="1259640" cy="719640"/>
            <a:chOff x="540000" y="3598920"/>
            <a:chExt cx="1259640" cy="719640"/>
          </a:xfrm>
        </p:grpSpPr>
        <p:sp>
          <p:nvSpPr>
            <p:cNvPr id="75" name=""/>
            <p:cNvSpPr/>
            <p:nvPr/>
          </p:nvSpPr>
          <p:spPr>
            <a:xfrm>
              <a:off x="540000" y="3598920"/>
              <a:ext cx="1259640" cy="7196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720000" y="3598920"/>
              <a:ext cx="899640" cy="71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44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"/>
          <p:cNvSpPr/>
          <p:nvPr/>
        </p:nvSpPr>
        <p:spPr>
          <a:xfrm>
            <a:off x="540000" y="3058920"/>
            <a:ext cx="19166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'5'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152680" y="1172520"/>
            <a:ext cx="4426560" cy="422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Указатель — объект, хранящий  адрес первого байта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Указатель весит 8 б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Тип указателя зависит от типа переменной, на которой он ссылается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Ни на что не ссылающийся указатель должен содержать значение nullptr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Разрешены операции: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Взятие адреса (&amp;)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Разыменование (*)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Приведение типов указателей ((char*)c)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"/>
          <p:cNvGrpSpPr/>
          <p:nvPr/>
        </p:nvGrpSpPr>
        <p:grpSpPr>
          <a:xfrm>
            <a:off x="252000" y="1800720"/>
            <a:ext cx="2915640" cy="358560"/>
            <a:chOff x="252000" y="1800720"/>
            <a:chExt cx="2915640" cy="358560"/>
          </a:xfrm>
        </p:grpSpPr>
        <p:sp>
          <p:nvSpPr>
            <p:cNvPr id="81" name=""/>
            <p:cNvSpPr/>
            <p:nvPr/>
          </p:nvSpPr>
          <p:spPr>
            <a:xfrm>
              <a:off x="252000" y="1800720"/>
              <a:ext cx="2915640" cy="3582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327960" y="1800720"/>
              <a:ext cx="633960" cy="358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44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1038240" y="1800720"/>
              <a:ext cx="633600" cy="358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1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1748520" y="1801080"/>
              <a:ext cx="633600" cy="358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2458800" y="1801080"/>
              <a:ext cx="633600" cy="358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"/>
          <p:cNvSpPr/>
          <p:nvPr/>
        </p:nvSpPr>
        <p:spPr>
          <a:xfrm>
            <a:off x="235800" y="1260720"/>
            <a:ext cx="17830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300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80000" y="4680000"/>
            <a:ext cx="1979640" cy="59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 flipH="1" flipV="1">
            <a:off x="540000" y="2340000"/>
            <a:ext cx="1800000" cy="162000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89" name=""/>
          <p:cNvGrpSpPr/>
          <p:nvPr/>
        </p:nvGrpSpPr>
        <p:grpSpPr>
          <a:xfrm>
            <a:off x="180000" y="4140000"/>
            <a:ext cx="2159640" cy="359280"/>
            <a:chOff x="180000" y="4140000"/>
            <a:chExt cx="2159640" cy="359280"/>
          </a:xfrm>
        </p:grpSpPr>
        <p:sp>
          <p:nvSpPr>
            <p:cNvPr id="90" name=""/>
            <p:cNvSpPr/>
            <p:nvPr/>
          </p:nvSpPr>
          <p:spPr>
            <a:xfrm>
              <a:off x="180000" y="414000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236160" y="414000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762840" y="414000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1288080" y="414036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1814760" y="414036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"/>
          <p:cNvGrpSpPr/>
          <p:nvPr/>
        </p:nvGrpSpPr>
        <p:grpSpPr>
          <a:xfrm>
            <a:off x="2304000" y="4140360"/>
            <a:ext cx="2159640" cy="359280"/>
            <a:chOff x="2304000" y="4140360"/>
            <a:chExt cx="2159640" cy="359280"/>
          </a:xfrm>
        </p:grpSpPr>
        <p:sp>
          <p:nvSpPr>
            <p:cNvPr id="96" name=""/>
            <p:cNvSpPr/>
            <p:nvPr/>
          </p:nvSpPr>
          <p:spPr>
            <a:xfrm>
              <a:off x="2304000" y="414036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2360160" y="414036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2886840" y="414036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3412080" y="414072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3938760" y="414072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"/>
          <p:cNvGrpSpPr/>
          <p:nvPr/>
        </p:nvGrpSpPr>
        <p:grpSpPr>
          <a:xfrm>
            <a:off x="3528000" y="1799280"/>
            <a:ext cx="2699640" cy="360360"/>
            <a:chOff x="3528000" y="1799280"/>
            <a:chExt cx="2699640" cy="360360"/>
          </a:xfrm>
        </p:grpSpPr>
        <p:sp>
          <p:nvSpPr>
            <p:cNvPr id="102" name=""/>
            <p:cNvSpPr/>
            <p:nvPr/>
          </p:nvSpPr>
          <p:spPr>
            <a:xfrm>
              <a:off x="3528000" y="1799280"/>
              <a:ext cx="2699640" cy="36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3598200" y="1799280"/>
              <a:ext cx="5864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45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4256280" y="1799280"/>
              <a:ext cx="5864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4913640" y="1799640"/>
              <a:ext cx="58680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5571360" y="1799640"/>
              <a:ext cx="5864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Арифметика указателей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120000" y="1326600"/>
            <a:ext cx="3779640" cy="173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Разрешены операции: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ptr + число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ptr - число или ptr - ptr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ptr[число]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305040" y="3408840"/>
            <a:ext cx="2154600" cy="16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0" name=""/>
          <p:cNvGrpSpPr/>
          <p:nvPr/>
        </p:nvGrpSpPr>
        <p:grpSpPr>
          <a:xfrm>
            <a:off x="180000" y="1800000"/>
            <a:ext cx="2629800" cy="359640"/>
            <a:chOff x="180000" y="1800000"/>
            <a:chExt cx="2629800" cy="359640"/>
          </a:xfrm>
        </p:grpSpPr>
        <p:sp>
          <p:nvSpPr>
            <p:cNvPr id="111" name=""/>
            <p:cNvSpPr/>
            <p:nvPr/>
          </p:nvSpPr>
          <p:spPr>
            <a:xfrm>
              <a:off x="180000" y="1800000"/>
              <a:ext cx="26298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248400" y="1800000"/>
              <a:ext cx="57132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12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889560" y="1800000"/>
              <a:ext cx="57132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1529640" y="1800360"/>
              <a:ext cx="5716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2170440" y="1800360"/>
              <a:ext cx="57132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"/>
          <p:cNvSpPr/>
          <p:nvPr/>
        </p:nvSpPr>
        <p:spPr>
          <a:xfrm>
            <a:off x="199800" y="1369080"/>
            <a:ext cx="447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a: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7" name=""/>
          <p:cNvGrpSpPr/>
          <p:nvPr/>
        </p:nvGrpSpPr>
        <p:grpSpPr>
          <a:xfrm>
            <a:off x="648000" y="2340000"/>
            <a:ext cx="441000" cy="1328400"/>
            <a:chOff x="648000" y="2340000"/>
            <a:chExt cx="441000" cy="1328400"/>
          </a:xfrm>
        </p:grpSpPr>
        <p:sp>
          <p:nvSpPr>
            <p:cNvPr id="118" name=""/>
            <p:cNvSpPr/>
            <p:nvPr/>
          </p:nvSpPr>
          <p:spPr>
            <a:xfrm>
              <a:off x="756000" y="3240000"/>
              <a:ext cx="33300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7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p</a:t>
              </a:r>
              <a:endPara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"/>
            <p:cNvSpPr/>
            <p:nvPr/>
          </p:nvSpPr>
          <p:spPr>
            <a:xfrm flipH="1" flipV="1">
              <a:off x="648000" y="2340000"/>
              <a:ext cx="180000" cy="90000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20" name=""/>
          <p:cNvGrpSpPr/>
          <p:nvPr/>
        </p:nvGrpSpPr>
        <p:grpSpPr>
          <a:xfrm>
            <a:off x="2808000" y="1799280"/>
            <a:ext cx="2699640" cy="360360"/>
            <a:chOff x="2808000" y="1799280"/>
            <a:chExt cx="2699640" cy="360360"/>
          </a:xfrm>
        </p:grpSpPr>
        <p:sp>
          <p:nvSpPr>
            <p:cNvPr id="121" name=""/>
            <p:cNvSpPr/>
            <p:nvPr/>
          </p:nvSpPr>
          <p:spPr>
            <a:xfrm>
              <a:off x="2808000" y="1799280"/>
              <a:ext cx="2699640" cy="36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2878200" y="1799280"/>
              <a:ext cx="5864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45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3536280" y="1799280"/>
              <a:ext cx="5864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4193640" y="1799640"/>
              <a:ext cx="58680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4851360" y="1799640"/>
              <a:ext cx="5864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"/>
          <p:cNvSpPr/>
          <p:nvPr/>
        </p:nvSpPr>
        <p:spPr>
          <a:xfrm>
            <a:off x="2827800" y="1369440"/>
            <a:ext cx="4474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b: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" name=""/>
          <p:cNvGrpSpPr/>
          <p:nvPr/>
        </p:nvGrpSpPr>
        <p:grpSpPr>
          <a:xfrm>
            <a:off x="3255840" y="2340360"/>
            <a:ext cx="405000" cy="1328400"/>
            <a:chOff x="3255840" y="2340360"/>
            <a:chExt cx="405000" cy="1328400"/>
          </a:xfrm>
        </p:grpSpPr>
        <p:sp>
          <p:nvSpPr>
            <p:cNvPr id="128" name=""/>
            <p:cNvSpPr/>
            <p:nvPr/>
          </p:nvSpPr>
          <p:spPr>
            <a:xfrm>
              <a:off x="3327840" y="3240360"/>
              <a:ext cx="33300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7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q</a:t>
              </a:r>
              <a:endPara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"/>
            <p:cNvSpPr/>
            <p:nvPr/>
          </p:nvSpPr>
          <p:spPr>
            <a:xfrm flipH="1" flipV="1">
              <a:off x="3255840" y="2340360"/>
              <a:ext cx="180000" cy="90000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30" name=""/>
          <p:cNvGrpSpPr/>
          <p:nvPr/>
        </p:nvGrpSpPr>
        <p:grpSpPr>
          <a:xfrm>
            <a:off x="2427840" y="2340000"/>
            <a:ext cx="848160" cy="1328760"/>
            <a:chOff x="2427840" y="2340000"/>
            <a:chExt cx="848160" cy="1328760"/>
          </a:xfrm>
        </p:grpSpPr>
        <p:sp>
          <p:nvSpPr>
            <p:cNvPr id="131" name=""/>
            <p:cNvSpPr/>
            <p:nvPr/>
          </p:nvSpPr>
          <p:spPr>
            <a:xfrm>
              <a:off x="2427840" y="3240360"/>
              <a:ext cx="84816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7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p + 1</a:t>
              </a:r>
              <a:endPara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"/>
            <p:cNvSpPr/>
            <p:nvPr/>
          </p:nvSpPr>
          <p:spPr>
            <a:xfrm flipV="1">
              <a:off x="2823840" y="2340000"/>
              <a:ext cx="272160" cy="90036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33" name=""/>
          <p:cNvGrpSpPr/>
          <p:nvPr/>
        </p:nvGrpSpPr>
        <p:grpSpPr>
          <a:xfrm>
            <a:off x="-55800" y="2340000"/>
            <a:ext cx="848160" cy="1328760"/>
            <a:chOff x="-55800" y="2340000"/>
            <a:chExt cx="848160" cy="1328760"/>
          </a:xfrm>
        </p:grpSpPr>
        <p:sp>
          <p:nvSpPr>
            <p:cNvPr id="134" name=""/>
            <p:cNvSpPr/>
            <p:nvPr/>
          </p:nvSpPr>
          <p:spPr>
            <a:xfrm>
              <a:off x="-55800" y="3240360"/>
              <a:ext cx="84816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7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q - 1</a:t>
              </a:r>
              <a:endPara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"/>
            <p:cNvSpPr/>
            <p:nvPr/>
          </p:nvSpPr>
          <p:spPr>
            <a:xfrm flipV="1">
              <a:off x="232200" y="2340000"/>
              <a:ext cx="235800" cy="90036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36" name=""/>
          <p:cNvGrpSpPr/>
          <p:nvPr/>
        </p:nvGrpSpPr>
        <p:grpSpPr>
          <a:xfrm>
            <a:off x="5128200" y="2340000"/>
            <a:ext cx="848160" cy="1328760"/>
            <a:chOff x="5128200" y="2340000"/>
            <a:chExt cx="848160" cy="1328760"/>
          </a:xfrm>
        </p:grpSpPr>
        <p:sp>
          <p:nvSpPr>
            <p:cNvPr id="137" name=""/>
            <p:cNvSpPr/>
            <p:nvPr/>
          </p:nvSpPr>
          <p:spPr>
            <a:xfrm>
              <a:off x="5128200" y="3240360"/>
              <a:ext cx="84816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0" lang="ru-RU" sz="17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p + 2</a:t>
              </a:r>
              <a:endPara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 flipV="1">
              <a:off x="5524200" y="2340000"/>
              <a:ext cx="272160" cy="90036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139" name=""/>
          <p:cNvSpPr/>
          <p:nvPr/>
        </p:nvSpPr>
        <p:spPr>
          <a:xfrm>
            <a:off x="1980000" y="4001400"/>
            <a:ext cx="197964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 - p == 1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p[1]  == *(p + 1)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q[-1] == *(q - 1)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Примеры. Исследование стека вызовов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Порядок расположения переменных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Расположение разрядов переменной в памяти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65040" y="1248840"/>
            <a:ext cx="351936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45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'5'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*)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560" cy="389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— псевдоним для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не хранится в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должна быть инициализирована при создании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Ссылку нельзя сослать на другую переменную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Любое действие над ссылкой аналогично действию над соответствующей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Нельзя создать ссылку на ссылку и массив ссылок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88000" y="1801440"/>
            <a:ext cx="4139640" cy="71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" name=""/>
          <p:cNvSpPr/>
          <p:nvPr/>
        </p:nvSpPr>
        <p:spPr>
          <a:xfrm>
            <a:off x="396000" y="1801440"/>
            <a:ext cx="899640" cy="71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44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404360" y="1801800"/>
            <a:ext cx="899640" cy="71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256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412720" y="1802160"/>
            <a:ext cx="899640" cy="71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421080" y="1802520"/>
            <a:ext cx="899640" cy="71964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180000" y="2700000"/>
            <a:ext cx="4679640" cy="22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300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ref2;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ref3[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аналогично операции a = b;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26520" y="1390680"/>
            <a:ext cx="129312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a, ref: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Массивы и контейнеры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Статические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560" cy="389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Массив — множество объектов одного типа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Размер статического массива всегда известен на этапе компиляции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Элементы располагаются друг за другом без «отступов»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Имя массива приводится компилятором к указателю на 1-й элемент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Размер массива можно узнать только в байтах через sizeof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360000" y="1296000"/>
            <a:ext cx="4696920" cy="38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не инициализирован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= 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длина массива угадывается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элементы, значения 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которых не указаны явно,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инициализируются нулями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a[1] = 8;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выводим размер «c»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более современный метод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Конетейнер array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5152680" y="1290600"/>
            <a:ext cx="4426560" cy="425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array — шаблон класса, обёртывающий работу над статическим массивом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Самые популярные методы: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front() и back() — первый и последний элемент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size() - кол-во элементов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at() - обращение по индексу с проверкой выхода за границы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data() - указатель на первый элемент статического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begin() и end() - итераторы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540000" y="1620000"/>
            <a:ext cx="4612320" cy="32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&lt;array&gt;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/*...*/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инициализируется нулями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UB, OK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front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==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data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0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Динамическая память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560" cy="40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Механизм «Куча» позволяет выделять дополнительную память во время работы программы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Размер выделяемой памяти не должен быть известен во время компиляции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Время жизни переменных в куче — период с вызова new до вызова delete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Потеря всех указателей на объект в куче — утечка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360000" y="1248840"/>
            <a:ext cx="4585320" cy="43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объект в куче не инициализирован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инициализируем объект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обнуляем указатель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double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9.7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объект в куче инициализирован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значением 9.7 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9.7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обнуляем указатель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Динамические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560" cy="389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Расположены в куче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Их размер может быть неизвестен на этапе компиляции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По-умолчанию элементы массива ничем не инициализируются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 хранят информации о кол-ве элементов, нам необходимо хранить её отдельно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1260000"/>
            <a:ext cx="4454280" cy="41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q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{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массив инициализирован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массив не инициализирован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сохраняем размер массива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++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// инициализируем массив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Контейнер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680000" y="1080000"/>
            <a:ext cx="5219640" cy="44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 — шаблон класса, обёртывающий работу над динамическим массивом. Вызывает new в конструкторе и delete в деструкторе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Самые популярные методы: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front(), back(), at(index), size(), begin(), end(), data() - аналогичны методам «array»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push_back(val), pop_back() - добавляют/удаляют конечный элемент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insert(iter, val), erase(iter) — вставляет элемент со сдвигом вправо и удаляет со сдвигом влево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360000" y="1152000"/>
            <a:ext cx="3599640" cy="41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&lt;vector&gt;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/*...*/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vector&lt;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&gt;</a:t>
            </a:r>
            <a:r>
              <a:rPr b="0" lang="ru-RU" sz="17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insert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2, 4}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push_back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2, 4, 5}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erase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4, 5}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pop_back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4}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Контейнер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332680" y="1260000"/>
            <a:ext cx="4746960" cy="425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Конструкторы: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vector(n) — вектор из n неинициализированных элементов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vector(n, val) — вектор из n элементов, равных val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vector(iter1, iter2) — вектор, состоящий из элементов другого контейнера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assign(n, val), assign(iter1, iter2) — «переинициализация» существующего вектора.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resize(n) — изменение размера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5400" y="1449720"/>
            <a:ext cx="501768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ar1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ar2 == {?, ?, ?}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ar3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'9'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ar3 == {'9', '9', '9'}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ar4 == {1, 2, 3}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assign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'9'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ar3 == {'9', '9', '9'}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Контейнер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Методы управления буфером в vector: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capacity() — возвращает текущий размер буфера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reserve(n) — если текущий размер буфера меньше n, расширяет буфер до n, сохраняя элементы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shrink_to_fit() — подгоняет размер буфера под размер его активной части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360000" y="1440000"/>
            <a:ext cx="4427640" cy="31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5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push_back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{0, 0, 0, 0, 0, 1}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10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reserve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15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shrink_to_fit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5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статические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560" cy="425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инициализируются во время определения, то внешняя размерность угадывается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a[i] — возвращает i-ю строчку (тип возвращаемого значения — массив)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a[i][j] — элемент на пересечении i-й строки и j-го столбца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многомерного массива sizeof возвращает суммарный размер всех строк в байтах, а std::size — длину внешней размерности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1332000"/>
            <a:ext cx="5253840" cy="34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},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},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typeid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name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A5_i == int [5] (c++filt -t A5_i)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 /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5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15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3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статические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" name=""/>
          <p:cNvGrpSpPr/>
          <p:nvPr/>
        </p:nvGrpSpPr>
        <p:grpSpPr>
          <a:xfrm>
            <a:off x="8676000" y="1324440"/>
            <a:ext cx="1079640" cy="3959640"/>
            <a:chOff x="8676000" y="1324440"/>
            <a:chExt cx="1079640" cy="3959640"/>
          </a:xfrm>
        </p:grpSpPr>
        <p:sp>
          <p:nvSpPr>
            <p:cNvPr id="179" name=""/>
            <p:cNvSpPr/>
            <p:nvPr/>
          </p:nvSpPr>
          <p:spPr>
            <a:xfrm>
              <a:off x="8676000" y="1324440"/>
              <a:ext cx="1079640" cy="39596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8856000" y="1396440"/>
              <a:ext cx="71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15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8856360" y="2693160"/>
              <a:ext cx="71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6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8856360" y="3125520"/>
              <a:ext cx="71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8856720" y="3557880"/>
              <a:ext cx="71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8856720" y="3990240"/>
              <a:ext cx="71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8857080" y="4854960"/>
              <a:ext cx="71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1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8857080" y="4422960"/>
              <a:ext cx="71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8856360" y="2261160"/>
              <a:ext cx="71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8856000" y="1828440"/>
              <a:ext cx="71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14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" name=""/>
          <p:cNvSpPr/>
          <p:nvPr/>
        </p:nvSpPr>
        <p:spPr>
          <a:xfrm>
            <a:off x="360360" y="1296360"/>
            <a:ext cx="5219280" cy="41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*(*(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 (==a[1][2])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Обходы массива: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 ++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или ((int*)a)[i]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 ++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]); ++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 flipV="1">
            <a:off x="7812000" y="513000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1" name=""/>
          <p:cNvSpPr/>
          <p:nvPr/>
        </p:nvSpPr>
        <p:spPr>
          <a:xfrm flipV="1">
            <a:off x="7812000" y="299088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2" name=""/>
          <p:cNvSpPr/>
          <p:nvPr/>
        </p:nvSpPr>
        <p:spPr>
          <a:xfrm flipV="1">
            <a:off x="7812000" y="128376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193" name=""/>
          <p:cNvGrpSpPr/>
          <p:nvPr/>
        </p:nvGrpSpPr>
        <p:grpSpPr>
          <a:xfrm>
            <a:off x="5797440" y="1252440"/>
            <a:ext cx="1942200" cy="4345200"/>
            <a:chOff x="5797440" y="1252440"/>
            <a:chExt cx="1942200" cy="4345200"/>
          </a:xfrm>
        </p:grpSpPr>
        <p:sp>
          <p:nvSpPr>
            <p:cNvPr id="194" name=""/>
            <p:cNvSpPr/>
            <p:nvPr/>
          </p:nvSpPr>
          <p:spPr>
            <a:xfrm>
              <a:off x="6840000" y="1252440"/>
              <a:ext cx="899640" cy="43452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6990480" y="1333800"/>
              <a:ext cx="599040" cy="3848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a[3]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7021080" y="5174280"/>
              <a:ext cx="598680" cy="3848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a[0]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"/>
            <p:cNvSpPr/>
            <p:nvPr/>
          </p:nvSpPr>
          <p:spPr>
            <a:xfrm>
              <a:off x="6990840" y="3106800"/>
              <a:ext cx="598680" cy="3848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a[1]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5797440" y="5174640"/>
              <a:ext cx="598680" cy="3848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6991200" y="2459160"/>
              <a:ext cx="598680" cy="3848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a[2]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0" name=""/>
          <p:cNvSpPr/>
          <p:nvPr/>
        </p:nvSpPr>
        <p:spPr>
          <a:xfrm>
            <a:off x="6480000" y="5400000"/>
            <a:ext cx="36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1" name=""/>
          <p:cNvSpPr/>
          <p:nvPr/>
        </p:nvSpPr>
        <p:spPr>
          <a:xfrm>
            <a:off x="8820000" y="900000"/>
            <a:ext cx="674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 flipV="1">
            <a:off x="7812000" y="247212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динамические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60720" y="1332720"/>
            <a:ext cx="5219280" cy="29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Создаём тело массива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Создаём таблицу индексов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index_table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{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Выводим элемент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index_table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Очищаем память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index_table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5940000" y="1326960"/>
            <a:ext cx="3639600" cy="425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Надо, чтобы работала инструкция: a[i][j]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[ ] работает со значением a[i] и возвращает int. Тогда тип a[i] — int*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Аналогично, тип a — int**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Будем хранить сам массив и «таблицу индексов» отдельно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массивы: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array и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469080" y="1585080"/>
            <a:ext cx="5110560" cy="363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6120000" y="1432440"/>
            <a:ext cx="3815640" cy="407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Многомерность достигается «вкладыванием» контейнера в контейнер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Многомерный array инициализируется линейно (без вложенных фигурных скобок)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Многомерный vector инициализируется только с синтаксисом вложенных фигурных скобок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Многомерный vector может содержать вектора разных длин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Placement new и выравнивание памяти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new с размещением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(Placement new)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5152680" y="1800000"/>
            <a:ext cx="4426560" cy="360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Преобразует переданный указатель к указатели на нужный тип + вызывает конструктор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Нужен, если Вы получили выделенную в стиле C память, в которой нужно хранить объект класса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Также можно использовать для создания нового объекта «поверх» текущего, переиспользования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80000" y="1620000"/>
            <a:ext cx="49723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&lt;cstdlib&gt;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Выделяем память в стиле C: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void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malloc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Размещаем в ней объект std::string: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"Hi!"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Выводим получившийся объект: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 в стиле C: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free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памяти. Истоки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5040000" y="1172520"/>
            <a:ext cx="4859640" cy="449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 состоит из множества строк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Процессор за раз может считать только 1 строку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переменная будет разбита на 2 строки, то считывание её будет происходить дольше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— расположение переменной целиком в одной строке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В приведённом слева примере переменная «b» выровнена, а переменная «a» — нет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5" name=""/>
          <p:cNvGrpSpPr/>
          <p:nvPr/>
        </p:nvGrpSpPr>
        <p:grpSpPr>
          <a:xfrm>
            <a:off x="324000" y="1656360"/>
            <a:ext cx="4319640" cy="359640"/>
            <a:chOff x="324000" y="1656360"/>
            <a:chExt cx="4319640" cy="359640"/>
          </a:xfrm>
        </p:grpSpPr>
        <p:grpSp>
          <p:nvGrpSpPr>
            <p:cNvPr id="216" name=""/>
            <p:cNvGrpSpPr/>
            <p:nvPr/>
          </p:nvGrpSpPr>
          <p:grpSpPr>
            <a:xfrm>
              <a:off x="324000" y="1656360"/>
              <a:ext cx="2159640" cy="359280"/>
              <a:chOff x="324000" y="1656360"/>
              <a:chExt cx="2159640" cy="359280"/>
            </a:xfrm>
          </p:grpSpPr>
          <p:sp>
            <p:nvSpPr>
              <p:cNvPr id="217" name=""/>
              <p:cNvSpPr/>
              <p:nvPr/>
            </p:nvSpPr>
            <p:spPr>
              <a:xfrm>
                <a:off x="324000" y="1656360"/>
                <a:ext cx="2159640" cy="35892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218" name=""/>
              <p:cNvSpPr/>
              <p:nvPr/>
            </p:nvSpPr>
            <p:spPr>
              <a:xfrm>
                <a:off x="380160" y="165636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"/>
              <p:cNvSpPr/>
              <p:nvPr/>
            </p:nvSpPr>
            <p:spPr>
              <a:xfrm>
                <a:off x="906840" y="1656360"/>
                <a:ext cx="46872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" name=""/>
              <p:cNvSpPr/>
              <p:nvPr/>
            </p:nvSpPr>
            <p:spPr>
              <a:xfrm>
                <a:off x="1432080" y="1656720"/>
                <a:ext cx="46980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"/>
              <p:cNvSpPr/>
              <p:nvPr/>
            </p:nvSpPr>
            <p:spPr>
              <a:xfrm>
                <a:off x="1958760" y="165672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2" name=""/>
            <p:cNvGrpSpPr/>
            <p:nvPr/>
          </p:nvGrpSpPr>
          <p:grpSpPr>
            <a:xfrm>
              <a:off x="324000" y="1656360"/>
              <a:ext cx="2159640" cy="359280"/>
              <a:chOff x="324000" y="1656360"/>
              <a:chExt cx="2159640" cy="359280"/>
            </a:xfrm>
          </p:grpSpPr>
          <p:sp>
            <p:nvSpPr>
              <p:cNvPr id="223" name=""/>
              <p:cNvSpPr/>
              <p:nvPr/>
            </p:nvSpPr>
            <p:spPr>
              <a:xfrm>
                <a:off x="324000" y="1656360"/>
                <a:ext cx="2159640" cy="35892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224" name=""/>
              <p:cNvSpPr/>
              <p:nvPr/>
            </p:nvSpPr>
            <p:spPr>
              <a:xfrm>
                <a:off x="380160" y="165636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"/>
              <p:cNvSpPr/>
              <p:nvPr/>
            </p:nvSpPr>
            <p:spPr>
              <a:xfrm>
                <a:off x="906840" y="1656360"/>
                <a:ext cx="46872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"/>
              <p:cNvSpPr/>
              <p:nvPr/>
            </p:nvSpPr>
            <p:spPr>
              <a:xfrm>
                <a:off x="1432080" y="1656720"/>
                <a:ext cx="46980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"/>
              <p:cNvSpPr/>
              <p:nvPr/>
            </p:nvSpPr>
            <p:spPr>
              <a:xfrm>
                <a:off x="1958760" y="165672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8" name=""/>
            <p:cNvGrpSpPr/>
            <p:nvPr/>
          </p:nvGrpSpPr>
          <p:grpSpPr>
            <a:xfrm>
              <a:off x="324000" y="1656360"/>
              <a:ext cx="2159640" cy="359280"/>
              <a:chOff x="324000" y="1656360"/>
              <a:chExt cx="2159640" cy="359280"/>
            </a:xfrm>
          </p:grpSpPr>
          <p:sp>
            <p:nvSpPr>
              <p:cNvPr id="229" name=""/>
              <p:cNvSpPr/>
              <p:nvPr/>
            </p:nvSpPr>
            <p:spPr>
              <a:xfrm>
                <a:off x="324000" y="1656360"/>
                <a:ext cx="2159640" cy="35892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230" name=""/>
              <p:cNvSpPr/>
              <p:nvPr/>
            </p:nvSpPr>
            <p:spPr>
              <a:xfrm>
                <a:off x="380160" y="165636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1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"/>
              <p:cNvSpPr/>
              <p:nvPr/>
            </p:nvSpPr>
            <p:spPr>
              <a:xfrm>
                <a:off x="906840" y="1656360"/>
                <a:ext cx="46872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45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"/>
              <p:cNvSpPr/>
              <p:nvPr/>
            </p:nvSpPr>
            <p:spPr>
              <a:xfrm>
                <a:off x="1432080" y="1656720"/>
                <a:ext cx="46980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10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"/>
              <p:cNvSpPr/>
              <p:nvPr/>
            </p:nvSpPr>
            <p:spPr>
              <a:xfrm>
                <a:off x="1958760" y="165672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20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4" name=""/>
            <p:cNvGrpSpPr/>
            <p:nvPr/>
          </p:nvGrpSpPr>
          <p:grpSpPr>
            <a:xfrm>
              <a:off x="2484000" y="1656720"/>
              <a:ext cx="2159640" cy="359280"/>
              <a:chOff x="2484000" y="1656720"/>
              <a:chExt cx="2159640" cy="359280"/>
            </a:xfrm>
          </p:grpSpPr>
          <p:sp>
            <p:nvSpPr>
              <p:cNvPr id="235" name=""/>
              <p:cNvSpPr/>
              <p:nvPr/>
            </p:nvSpPr>
            <p:spPr>
              <a:xfrm>
                <a:off x="2484000" y="1656720"/>
                <a:ext cx="2159640" cy="35892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236" name=""/>
              <p:cNvSpPr/>
              <p:nvPr/>
            </p:nvSpPr>
            <p:spPr>
              <a:xfrm>
                <a:off x="2540160" y="165672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"/>
              <p:cNvSpPr/>
              <p:nvPr/>
            </p:nvSpPr>
            <p:spPr>
              <a:xfrm>
                <a:off x="3066840" y="1656720"/>
                <a:ext cx="46872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8" name=""/>
              <p:cNvSpPr/>
              <p:nvPr/>
            </p:nvSpPr>
            <p:spPr>
              <a:xfrm>
                <a:off x="3592080" y="1657080"/>
                <a:ext cx="46980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7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1</a:t>
                </a:r>
                <a:endParaRPr b="0" lang="ru-RU" sz="17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9" name=""/>
              <p:cNvSpPr/>
              <p:nvPr/>
            </p:nvSpPr>
            <p:spPr>
              <a:xfrm>
                <a:off x="4118760" y="165708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20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40" name=""/>
          <p:cNvGrpSpPr/>
          <p:nvPr/>
        </p:nvGrpSpPr>
        <p:grpSpPr>
          <a:xfrm>
            <a:off x="324000" y="2268720"/>
            <a:ext cx="4319640" cy="359640"/>
            <a:chOff x="324000" y="2268720"/>
            <a:chExt cx="4319640" cy="359640"/>
          </a:xfrm>
        </p:grpSpPr>
        <p:grpSp>
          <p:nvGrpSpPr>
            <p:cNvPr id="241" name=""/>
            <p:cNvGrpSpPr/>
            <p:nvPr/>
          </p:nvGrpSpPr>
          <p:grpSpPr>
            <a:xfrm>
              <a:off x="324000" y="2268720"/>
              <a:ext cx="2159640" cy="359280"/>
              <a:chOff x="324000" y="2268720"/>
              <a:chExt cx="2159640" cy="359280"/>
            </a:xfrm>
          </p:grpSpPr>
          <p:sp>
            <p:nvSpPr>
              <p:cNvPr id="242" name=""/>
              <p:cNvSpPr/>
              <p:nvPr/>
            </p:nvSpPr>
            <p:spPr>
              <a:xfrm>
                <a:off x="324000" y="2268720"/>
                <a:ext cx="2159640" cy="35892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243" name=""/>
              <p:cNvSpPr/>
              <p:nvPr/>
            </p:nvSpPr>
            <p:spPr>
              <a:xfrm>
                <a:off x="380160" y="226872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"/>
              <p:cNvSpPr/>
              <p:nvPr/>
            </p:nvSpPr>
            <p:spPr>
              <a:xfrm>
                <a:off x="906840" y="2268720"/>
                <a:ext cx="46872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"/>
              <p:cNvSpPr/>
              <p:nvPr/>
            </p:nvSpPr>
            <p:spPr>
              <a:xfrm>
                <a:off x="1432080" y="2269080"/>
                <a:ext cx="46980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"/>
              <p:cNvSpPr/>
              <p:nvPr/>
            </p:nvSpPr>
            <p:spPr>
              <a:xfrm>
                <a:off x="1958760" y="226908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7" name=""/>
            <p:cNvGrpSpPr/>
            <p:nvPr/>
          </p:nvGrpSpPr>
          <p:grpSpPr>
            <a:xfrm>
              <a:off x="324000" y="2268720"/>
              <a:ext cx="2159640" cy="359280"/>
              <a:chOff x="324000" y="2268720"/>
              <a:chExt cx="2159640" cy="359280"/>
            </a:xfrm>
          </p:grpSpPr>
          <p:sp>
            <p:nvSpPr>
              <p:cNvPr id="248" name=""/>
              <p:cNvSpPr/>
              <p:nvPr/>
            </p:nvSpPr>
            <p:spPr>
              <a:xfrm>
                <a:off x="324000" y="2268720"/>
                <a:ext cx="2159640" cy="35892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249" name=""/>
              <p:cNvSpPr/>
              <p:nvPr/>
            </p:nvSpPr>
            <p:spPr>
              <a:xfrm>
                <a:off x="380160" y="226872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"/>
              <p:cNvSpPr/>
              <p:nvPr/>
            </p:nvSpPr>
            <p:spPr>
              <a:xfrm>
                <a:off x="906840" y="2268720"/>
                <a:ext cx="46872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"/>
              <p:cNvSpPr/>
              <p:nvPr/>
            </p:nvSpPr>
            <p:spPr>
              <a:xfrm>
                <a:off x="1432080" y="2269080"/>
                <a:ext cx="46980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"/>
              <p:cNvSpPr/>
              <p:nvPr/>
            </p:nvSpPr>
            <p:spPr>
              <a:xfrm>
                <a:off x="1958760" y="226908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3" name=""/>
            <p:cNvGrpSpPr/>
            <p:nvPr/>
          </p:nvGrpSpPr>
          <p:grpSpPr>
            <a:xfrm>
              <a:off x="324000" y="2268720"/>
              <a:ext cx="2159640" cy="359280"/>
              <a:chOff x="324000" y="2268720"/>
              <a:chExt cx="2159640" cy="359280"/>
            </a:xfrm>
          </p:grpSpPr>
          <p:sp>
            <p:nvSpPr>
              <p:cNvPr id="254" name=""/>
              <p:cNvSpPr/>
              <p:nvPr/>
            </p:nvSpPr>
            <p:spPr>
              <a:xfrm>
                <a:off x="324000" y="2268720"/>
                <a:ext cx="2159640" cy="35892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255" name=""/>
              <p:cNvSpPr/>
              <p:nvPr/>
            </p:nvSpPr>
            <p:spPr>
              <a:xfrm>
                <a:off x="380160" y="226872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15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"/>
              <p:cNvSpPr/>
              <p:nvPr/>
            </p:nvSpPr>
            <p:spPr>
              <a:xfrm>
                <a:off x="906840" y="2268720"/>
                <a:ext cx="46872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59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"/>
              <p:cNvSpPr/>
              <p:nvPr/>
            </p:nvSpPr>
            <p:spPr>
              <a:xfrm>
                <a:off x="1432080" y="2269080"/>
                <a:ext cx="46980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"/>
              <p:cNvSpPr/>
              <p:nvPr/>
            </p:nvSpPr>
            <p:spPr>
              <a:xfrm>
                <a:off x="1958760" y="226908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9" name=""/>
            <p:cNvGrpSpPr/>
            <p:nvPr/>
          </p:nvGrpSpPr>
          <p:grpSpPr>
            <a:xfrm>
              <a:off x="2484000" y="2269080"/>
              <a:ext cx="2159640" cy="359280"/>
              <a:chOff x="2484000" y="2269080"/>
              <a:chExt cx="2159640" cy="359280"/>
            </a:xfrm>
          </p:grpSpPr>
          <p:sp>
            <p:nvSpPr>
              <p:cNvPr id="260" name=""/>
              <p:cNvSpPr/>
              <p:nvPr/>
            </p:nvSpPr>
            <p:spPr>
              <a:xfrm>
                <a:off x="2484000" y="2269080"/>
                <a:ext cx="2159640" cy="35892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  <p:sp>
            <p:nvSpPr>
              <p:cNvPr id="261" name=""/>
              <p:cNvSpPr/>
              <p:nvPr/>
            </p:nvSpPr>
            <p:spPr>
              <a:xfrm>
                <a:off x="2540160" y="226908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"/>
              <p:cNvSpPr/>
              <p:nvPr/>
            </p:nvSpPr>
            <p:spPr>
              <a:xfrm>
                <a:off x="3066840" y="2269080"/>
                <a:ext cx="46872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"/>
              <p:cNvSpPr/>
              <p:nvPr/>
            </p:nvSpPr>
            <p:spPr>
              <a:xfrm>
                <a:off x="3592080" y="2269440"/>
                <a:ext cx="46980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"/>
              <p:cNvSpPr/>
              <p:nvPr/>
            </p:nvSpPr>
            <p:spPr>
              <a:xfrm>
                <a:off x="4118760" y="2269440"/>
                <a:ext cx="469080" cy="35892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  <a:ea typeface="DejaVu Sans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65" name=""/>
          <p:cNvSpPr/>
          <p:nvPr/>
        </p:nvSpPr>
        <p:spPr>
          <a:xfrm>
            <a:off x="1980000" y="1172520"/>
            <a:ext cx="976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1328760" y="4251240"/>
            <a:ext cx="286344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990843905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336211201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368000" y="2857680"/>
            <a:ext cx="29156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байт переменной «a»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856440" y="2845440"/>
            <a:ext cx="469800" cy="358920"/>
          </a:xfrm>
          <a:prstGeom prst="roundRect">
            <a:avLst>
              <a:gd name="adj" fmla="val 16667"/>
            </a:avLst>
          </a:prstGeom>
          <a:solidFill>
            <a:srgbClr val="800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?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1368000" y="3361680"/>
            <a:ext cx="29156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байт переменной «b»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856440" y="3349440"/>
            <a:ext cx="469800" cy="358920"/>
          </a:xfrm>
          <a:prstGeom prst="roundRect">
            <a:avLst>
              <a:gd name="adj" fmla="val 16667"/>
            </a:avLst>
          </a:prstGeom>
          <a:solidFill>
            <a:srgbClr val="1e6a3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ru-RU" sz="17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?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памяти. Конкретика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5152680" y="1614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переменной в C — расположение её первого байта в ячейке с номером, кратным некоторой степени 2-ки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Все типы выравниваются по-умолчанию по своему размеру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alignof() — возвращает выравнивание (степень 2-ки)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alignas(2**n) — задаёт выравнивание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540000" y="1620000"/>
            <a:ext cx="430956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4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alignas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89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alignas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16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структур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5040000" y="1260000"/>
            <a:ext cx="4859640" cy="43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Структуры выравниваются по-умолчанию по самому требовательному полю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Однако поля структур выравниваются по-особому: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 под них выделяется блоками, размер каждого = выравнивание самого требовательного поля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Внутри блока поля выравниваются, как обычно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Поэтому размер структуры ≠ суммарный размер полей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Всё это позволяет хранить экземпляры структур в массивах, друг за другом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324000" y="1260000"/>
            <a:ext cx="4899240" cy="31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12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4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7" name=""/>
          <p:cNvGrpSpPr/>
          <p:nvPr/>
        </p:nvGrpSpPr>
        <p:grpSpPr>
          <a:xfrm>
            <a:off x="360000" y="4824360"/>
            <a:ext cx="2159640" cy="359280"/>
            <a:chOff x="360000" y="4824360"/>
            <a:chExt cx="2159640" cy="359280"/>
          </a:xfrm>
        </p:grpSpPr>
        <p:sp>
          <p:nvSpPr>
            <p:cNvPr id="278" name=""/>
            <p:cNvSpPr/>
            <p:nvPr/>
          </p:nvSpPr>
          <p:spPr>
            <a:xfrm>
              <a:off x="360000" y="482436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416160" y="482436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l1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942840" y="482436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"/>
            <p:cNvSpPr/>
            <p:nvPr/>
          </p:nvSpPr>
          <p:spPr>
            <a:xfrm>
              <a:off x="1468080" y="482472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1994760" y="482472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3" name=""/>
          <p:cNvGrpSpPr/>
          <p:nvPr/>
        </p:nvGrpSpPr>
        <p:grpSpPr>
          <a:xfrm>
            <a:off x="2520000" y="4824720"/>
            <a:ext cx="2159640" cy="359280"/>
            <a:chOff x="2520000" y="4824720"/>
            <a:chExt cx="2159640" cy="359280"/>
          </a:xfrm>
        </p:grpSpPr>
        <p:sp>
          <p:nvSpPr>
            <p:cNvPr id="284" name=""/>
            <p:cNvSpPr/>
            <p:nvPr/>
          </p:nvSpPr>
          <p:spPr>
            <a:xfrm>
              <a:off x="2520000" y="482472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2576160" y="482472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3102840" y="482472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3628080" y="482508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4154760" y="482508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9" name=""/>
          <p:cNvGrpSpPr/>
          <p:nvPr/>
        </p:nvGrpSpPr>
        <p:grpSpPr>
          <a:xfrm>
            <a:off x="1440000" y="5257080"/>
            <a:ext cx="2159640" cy="359280"/>
            <a:chOff x="1440000" y="5257080"/>
            <a:chExt cx="2159640" cy="359280"/>
          </a:xfrm>
        </p:grpSpPr>
        <p:sp>
          <p:nvSpPr>
            <p:cNvPr id="290" name=""/>
            <p:cNvSpPr/>
            <p:nvPr/>
          </p:nvSpPr>
          <p:spPr>
            <a:xfrm>
              <a:off x="1440000" y="525708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1496160" y="525708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l2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2022840" y="525708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l3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2548080" y="525744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3074760" y="525744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5" name=""/>
          <p:cNvSpPr/>
          <p:nvPr/>
        </p:nvSpPr>
        <p:spPr>
          <a:xfrm>
            <a:off x="1692000" y="4392000"/>
            <a:ext cx="17276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Изменение выравнивания структур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252000" y="1872000"/>
            <a:ext cx="5017320" cy="21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alignas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alignas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16</a:t>
            </a:r>
            <a:br>
              <a:rPr sz="1550"/>
            </a:b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16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1512000" y="1584000"/>
            <a:ext cx="1763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Через </a:t>
            </a:r>
            <a:r>
              <a:rPr b="0" lang="ru-RU" sz="18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alignas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9" name=""/>
          <p:cNvGrpSpPr/>
          <p:nvPr/>
        </p:nvGrpSpPr>
        <p:grpSpPr>
          <a:xfrm>
            <a:off x="360000" y="4824720"/>
            <a:ext cx="2159640" cy="359280"/>
            <a:chOff x="360000" y="4824720"/>
            <a:chExt cx="2159640" cy="359280"/>
          </a:xfrm>
        </p:grpSpPr>
        <p:sp>
          <p:nvSpPr>
            <p:cNvPr id="300" name=""/>
            <p:cNvSpPr/>
            <p:nvPr/>
          </p:nvSpPr>
          <p:spPr>
            <a:xfrm>
              <a:off x="360000" y="482472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416160" y="482472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l1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942840" y="482472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1468080" y="482508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1994760" y="482508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5" name=""/>
          <p:cNvGrpSpPr/>
          <p:nvPr/>
        </p:nvGrpSpPr>
        <p:grpSpPr>
          <a:xfrm>
            <a:off x="2520000" y="4825080"/>
            <a:ext cx="2159640" cy="359280"/>
            <a:chOff x="2520000" y="4825080"/>
            <a:chExt cx="2159640" cy="359280"/>
          </a:xfrm>
        </p:grpSpPr>
        <p:sp>
          <p:nvSpPr>
            <p:cNvPr id="306" name=""/>
            <p:cNvSpPr/>
            <p:nvPr/>
          </p:nvSpPr>
          <p:spPr>
            <a:xfrm>
              <a:off x="2520000" y="482508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2576160" y="482508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3102840" y="482508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3628080" y="482544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4154760" y="482544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1" name=""/>
          <p:cNvGrpSpPr/>
          <p:nvPr/>
        </p:nvGrpSpPr>
        <p:grpSpPr>
          <a:xfrm>
            <a:off x="360000" y="5257440"/>
            <a:ext cx="2159640" cy="359280"/>
            <a:chOff x="360000" y="5257440"/>
            <a:chExt cx="2159640" cy="359280"/>
          </a:xfrm>
        </p:grpSpPr>
        <p:sp>
          <p:nvSpPr>
            <p:cNvPr id="312" name=""/>
            <p:cNvSpPr/>
            <p:nvPr/>
          </p:nvSpPr>
          <p:spPr>
            <a:xfrm>
              <a:off x="360000" y="525744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416160" y="525744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"/>
            <p:cNvSpPr/>
            <p:nvPr/>
          </p:nvSpPr>
          <p:spPr>
            <a:xfrm>
              <a:off x="942840" y="525744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1468080" y="525780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1994760" y="525780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7" name=""/>
          <p:cNvSpPr/>
          <p:nvPr/>
        </p:nvSpPr>
        <p:spPr>
          <a:xfrm>
            <a:off x="1692000" y="4464360"/>
            <a:ext cx="17276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8" name=""/>
          <p:cNvGrpSpPr/>
          <p:nvPr/>
        </p:nvGrpSpPr>
        <p:grpSpPr>
          <a:xfrm>
            <a:off x="2520000" y="5257800"/>
            <a:ext cx="2159640" cy="359280"/>
            <a:chOff x="2520000" y="5257800"/>
            <a:chExt cx="2159640" cy="359280"/>
          </a:xfrm>
        </p:grpSpPr>
        <p:sp>
          <p:nvSpPr>
            <p:cNvPr id="319" name=""/>
            <p:cNvSpPr/>
            <p:nvPr/>
          </p:nvSpPr>
          <p:spPr>
            <a:xfrm>
              <a:off x="2520000" y="525780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0" name=""/>
            <p:cNvSpPr/>
            <p:nvPr/>
          </p:nvSpPr>
          <p:spPr>
            <a:xfrm>
              <a:off x="2576160" y="525780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l2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3102840" y="525780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l3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3628080" y="525816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4154760" y="525816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4" name=""/>
          <p:cNvSpPr/>
          <p:nvPr/>
        </p:nvSpPr>
        <p:spPr>
          <a:xfrm>
            <a:off x="5256000" y="1800360"/>
            <a:ext cx="4899240" cy="25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#pragma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pack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(push,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number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l2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 l3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550"/>
            </a:br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#pragma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pack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(pop)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7</a:t>
            </a:r>
            <a:br>
              <a:rPr sz="1550"/>
            </a:b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6624000" y="1512360"/>
            <a:ext cx="1763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Через </a:t>
            </a:r>
            <a:r>
              <a:rPr b="0" lang="ru-RU" sz="18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pack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6" name=""/>
          <p:cNvGrpSpPr/>
          <p:nvPr/>
        </p:nvGrpSpPr>
        <p:grpSpPr>
          <a:xfrm>
            <a:off x="7616160" y="5257440"/>
            <a:ext cx="1707480" cy="359280"/>
            <a:chOff x="7616160" y="5257440"/>
            <a:chExt cx="1707480" cy="359280"/>
          </a:xfrm>
        </p:grpSpPr>
        <p:sp>
          <p:nvSpPr>
            <p:cNvPr id="327" name=""/>
            <p:cNvSpPr/>
            <p:nvPr/>
          </p:nvSpPr>
          <p:spPr>
            <a:xfrm>
              <a:off x="7616160" y="5257440"/>
              <a:ext cx="170748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28" name=""/>
            <p:cNvSpPr/>
            <p:nvPr/>
          </p:nvSpPr>
          <p:spPr>
            <a:xfrm>
              <a:off x="8264160" y="525744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l2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"/>
            <p:cNvSpPr/>
            <p:nvPr/>
          </p:nvSpPr>
          <p:spPr>
            <a:xfrm>
              <a:off x="8790840" y="525744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l3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"/>
            <p:cNvSpPr/>
            <p:nvPr/>
          </p:nvSpPr>
          <p:spPr>
            <a:xfrm>
              <a:off x="7724520" y="525780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"/>
          <p:cNvSpPr/>
          <p:nvPr/>
        </p:nvSpPr>
        <p:spPr>
          <a:xfrm>
            <a:off x="6660000" y="4896720"/>
            <a:ext cx="17276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2" name=""/>
          <p:cNvGrpSpPr/>
          <p:nvPr/>
        </p:nvGrpSpPr>
        <p:grpSpPr>
          <a:xfrm>
            <a:off x="5544000" y="5257080"/>
            <a:ext cx="2159640" cy="359280"/>
            <a:chOff x="5544000" y="5257080"/>
            <a:chExt cx="2159640" cy="359280"/>
          </a:xfrm>
        </p:grpSpPr>
        <p:sp>
          <p:nvSpPr>
            <p:cNvPr id="333" name=""/>
            <p:cNvSpPr/>
            <p:nvPr/>
          </p:nvSpPr>
          <p:spPr>
            <a:xfrm>
              <a:off x="5544000" y="525708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5600160" y="525708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l1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"/>
            <p:cNvSpPr/>
            <p:nvPr/>
          </p:nvSpPr>
          <p:spPr>
            <a:xfrm>
              <a:off x="6126840" y="525708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"/>
            <p:cNvSpPr/>
            <p:nvPr/>
          </p:nvSpPr>
          <p:spPr>
            <a:xfrm>
              <a:off x="6652080" y="525744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"/>
            <p:cNvSpPr/>
            <p:nvPr/>
          </p:nvSpPr>
          <p:spPr>
            <a:xfrm>
              <a:off x="7178760" y="525744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копирования и оператор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Пишем свой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6345360" y="1218600"/>
            <a:ext cx="3554280" cy="437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Начнём писать аналог vector&lt;int&gt;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Агрегатный тип: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Массив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Класс, где нет: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Пользовательского конструктора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Базового класса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Не-public членов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Виртуальных методов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агрегатных типов работает инициализация = {...}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1260000"/>
            <a:ext cx="6432840" cy="41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arr1 = {..., ...};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arr2 = {.data_ = ..., .size_ = ...};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Добавляем деструктор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6516000" y="1326600"/>
            <a:ext cx="32792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Агрегатная инициализация всё ещё работает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1188000"/>
            <a:ext cx="6432840" cy="44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~IntVector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arr1 = {..., ...};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arr2 = {.data_ = ..., .size_ = ...};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Добавляем конструктор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36000" y="1116000"/>
            <a:ext cx="5399640" cy="44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]),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++)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==IntVector arr1(p, 2)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arr1 = {..., ...};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2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Список инициализации {...} теперь вызывает соответствующий конструктор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по-умолчанию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360000" y="1296000"/>
            <a:ext cx="5399640" cy="24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550"/>
            </a:b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240" cy="40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Теперь при создании объекта IntVector мы всегда обязаны указать 2 аргумента конструктора: p и size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Чтобы можно было не передавать аргументов, определим конструктор без параметров (=конструктор по умолчанию)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Если у класса ни один конструктор не определён явным образом, то компилятор сам создаст конструктор без параметров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std::initializer_list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360000" y="1116000"/>
            <a:ext cx="5399640" cy="42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initializer_list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()]),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elem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++] 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elem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139640" cy="425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Список инициализации {...} теперь работает, как у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Синтаксис {…} всё ещё может вызвать конструктор от 2-х аргументов, если передать ему параметры нужных типов (int*, size_t)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initializer_list — это объект, содержащий указатель на начало массива и его размер. Поэтому его можно передавать по значению, а не по ссылке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от одного аргумента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360000" y="1116000"/>
            <a:ext cx="5399640" cy="42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]),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==IntVector arr1({10});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==IntVector arr3(10);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2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 этому конструктору не обратиться через {...}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Любой конструктор от одного аргумента может быть вызван неявно, когда используем оператор «=» во время создания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Ключевое слово explicit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360000" y="1116000"/>
            <a:ext cx="5399640" cy="42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explicit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]),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2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Запрещает вызывать конструктор от одного аргумента неявно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Проблема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360000" y="1116000"/>
            <a:ext cx="5399640" cy="42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10</a:t>
            </a:r>
            <a:br>
              <a:rPr sz="1550"/>
            </a:b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//Ошибка: двойное освобождение памяти!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5760000" y="1254600"/>
            <a:ext cx="4035240" cy="40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во время создания переменной присвоить ей значение другой переменной того же типа, то вызовется конструктор копирования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Компилятор сам определяет конструктор копирования для всех классов так, что тот копирует все поля одного класса в соответствующие поля другого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Мы можем переопределить его поведение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Проблема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360000" y="1116000"/>
            <a:ext cx="5399640" cy="44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arr2.data_ = arr1.data_;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arr2.size_ = arr1.size_;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*/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10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//Ошибка: двойное освобождение памяти!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 flipV="1">
            <a:off x="6264000" y="1944000"/>
            <a:ext cx="360000" cy="72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366" name=""/>
          <p:cNvGrpSpPr/>
          <p:nvPr/>
        </p:nvGrpSpPr>
        <p:grpSpPr>
          <a:xfrm>
            <a:off x="5760000" y="2808000"/>
            <a:ext cx="1799640" cy="359280"/>
            <a:chOff x="5760000" y="2808000"/>
            <a:chExt cx="1799640" cy="359280"/>
          </a:xfrm>
        </p:grpSpPr>
        <p:sp>
          <p:nvSpPr>
            <p:cNvPr id="367" name=""/>
            <p:cNvSpPr/>
            <p:nvPr/>
          </p:nvSpPr>
          <p:spPr>
            <a:xfrm>
              <a:off x="5760000" y="2808000"/>
              <a:ext cx="179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68" name=""/>
            <p:cNvSpPr/>
            <p:nvPr/>
          </p:nvSpPr>
          <p:spPr>
            <a:xfrm>
              <a:off x="5816160" y="2808000"/>
              <a:ext cx="8074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data</a:t>
              </a:r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_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"/>
            <p:cNvSpPr/>
            <p:nvPr/>
          </p:nvSpPr>
          <p:spPr>
            <a:xfrm>
              <a:off x="6696000" y="2808360"/>
              <a:ext cx="80784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size_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0" name=""/>
          <p:cNvGrpSpPr/>
          <p:nvPr/>
        </p:nvGrpSpPr>
        <p:grpSpPr>
          <a:xfrm>
            <a:off x="7740000" y="2808360"/>
            <a:ext cx="1799640" cy="359280"/>
            <a:chOff x="7740000" y="2808360"/>
            <a:chExt cx="1799640" cy="359280"/>
          </a:xfrm>
        </p:grpSpPr>
        <p:sp>
          <p:nvSpPr>
            <p:cNvPr id="371" name=""/>
            <p:cNvSpPr/>
            <p:nvPr/>
          </p:nvSpPr>
          <p:spPr>
            <a:xfrm>
              <a:off x="7740000" y="2808360"/>
              <a:ext cx="179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2" name=""/>
            <p:cNvSpPr/>
            <p:nvPr/>
          </p:nvSpPr>
          <p:spPr>
            <a:xfrm>
              <a:off x="7796160" y="2808360"/>
              <a:ext cx="8074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data</a:t>
              </a:r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_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"/>
            <p:cNvSpPr/>
            <p:nvPr/>
          </p:nvSpPr>
          <p:spPr>
            <a:xfrm>
              <a:off x="8676000" y="2808720"/>
              <a:ext cx="80784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size_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4" name=""/>
          <p:cNvSpPr/>
          <p:nvPr/>
        </p:nvSpPr>
        <p:spPr>
          <a:xfrm flipH="1" flipV="1">
            <a:off x="6660000" y="1944000"/>
            <a:ext cx="1499040" cy="720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375" name=""/>
          <p:cNvGrpSpPr/>
          <p:nvPr/>
        </p:nvGrpSpPr>
        <p:grpSpPr>
          <a:xfrm>
            <a:off x="6372000" y="1548360"/>
            <a:ext cx="2159640" cy="359280"/>
            <a:chOff x="6372000" y="1548360"/>
            <a:chExt cx="2159640" cy="359280"/>
          </a:xfrm>
        </p:grpSpPr>
        <p:sp>
          <p:nvSpPr>
            <p:cNvPr id="376" name=""/>
            <p:cNvSpPr/>
            <p:nvPr/>
          </p:nvSpPr>
          <p:spPr>
            <a:xfrm>
              <a:off x="6372000" y="1548360"/>
              <a:ext cx="2159640" cy="35892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7" name=""/>
            <p:cNvSpPr/>
            <p:nvPr/>
          </p:nvSpPr>
          <p:spPr>
            <a:xfrm>
              <a:off x="6428160" y="154836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6954840" y="1548360"/>
              <a:ext cx="46872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"/>
            <p:cNvSpPr/>
            <p:nvPr/>
          </p:nvSpPr>
          <p:spPr>
            <a:xfrm>
              <a:off x="7480080" y="1548720"/>
              <a:ext cx="46980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"/>
            <p:cNvSpPr/>
            <p:nvPr/>
          </p:nvSpPr>
          <p:spPr>
            <a:xfrm>
              <a:off x="8006760" y="1548720"/>
              <a:ext cx="469080" cy="35892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1" name=""/>
          <p:cNvSpPr/>
          <p:nvPr/>
        </p:nvSpPr>
        <p:spPr>
          <a:xfrm>
            <a:off x="6372000" y="3420000"/>
            <a:ext cx="586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arr1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8316360" y="3420000"/>
            <a:ext cx="586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arr2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360000" y="1116000"/>
            <a:ext cx="5399640" cy="44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: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550"/>
            </a:b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//OK, нет ошибок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5760000" y="1254600"/>
            <a:ext cx="4035240" cy="40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Переопределим конструктор копирования, используя механизм «делегирования конструкторов»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Теперь копирующая инициализация работает, как задумано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Ошибок двойного освобождения памяти нет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Проблема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360000" y="1116000"/>
            <a:ext cx="5399640" cy="42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;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Arial"/>
                <a:ea typeface="Noto Sans CJK SC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Arial"/>
                <a:ea typeface="Noto Sans CJK SC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] 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Arial"/>
                <a:ea typeface="Noto Sans CJK SC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Arial"/>
                <a:ea typeface="Noto Sans CJK SC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Arial"/>
                <a:ea typeface="Noto Sans CJK SC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Arial"/>
                <a:ea typeface="Noto Sans CJK SC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Arial"/>
                <a:ea typeface="Noto Sans CJK SC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Arial"/>
                <a:ea typeface="Noto Sans CJK SC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Arial"/>
                <a:ea typeface="Noto Sans CJK SC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Arial"/>
                <a:ea typeface="Noto Sans CJK SC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Arial"/>
                <a:ea typeface="Noto Sans CJK SC"/>
              </a:rPr>
              <a:t>// 10</a:t>
            </a:r>
            <a:br>
              <a:rPr sz="1550"/>
            </a:b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//Ошибка: двойное освобождение памяти!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5760000" y="1254600"/>
            <a:ext cx="4035240" cy="40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после создания переменной присвоить ей значение другой переменной того же типа, то вызовется оператор присваивания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Компилятор сам определяет оператор присваивания для всех классов так, что тот копирует все поля одного класса в соответствующие поля другого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Мы можем переопределить его поведение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360000" y="1080000"/>
            <a:ext cx="6479640" cy="44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== &amp;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-&gt;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~IntVector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6660000" y="1146960"/>
            <a:ext cx="3135240" cy="40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присваивания возвращает ссылку на свой левый операнд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operator[ ] и метод size()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360000" y="1080000"/>
            <a:ext cx="4139640" cy="34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pos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   size_t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 ++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 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6120000" y="1254960"/>
            <a:ext cx="3675240" cy="40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Теперь к элементам IntVector можно обращаться, как к элементам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Поля data_ и size_ можно сделать приватными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Семантика перемещений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и r-value значения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5332680" y="150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— всё, что может стоять слева от «=»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Переменные, указатели, ссылки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— всё, что не может стоять лева от «=»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Временные значения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Указатели могут ссылаться только на l-value или C-строки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1584000"/>
            <a:ext cx="5253480" cy="17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4.0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"Compiler"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0" y="3276360"/>
            <a:ext cx="4535640" cy="14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l-value: a, b, p, q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r-value: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4.0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 &amp;a,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"Compiler",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и r-value ссылки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Существуют 2 типа ссылок: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на l-value значение (далее: l-value ссылка)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на r-value значение (далее: r-value ссылка)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504000" y="1368000"/>
            <a:ext cx="2583720" cy="17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l-value ссылка: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l_ref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r-value ссылка: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r_ref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Постановка проблемы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36000" y="1188000"/>
            <a:ext cx="5120640" cy="44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accumulate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0.0</a:t>
            </a:r>
            <a:br>
              <a:rPr sz="1750"/>
            </a:b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/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}); 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Ошибка!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5657400" y="1290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Функцию average нельзя вызвать от r-value значения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ссылка на r-value значение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36360" y="1188720"/>
            <a:ext cx="5479560" cy="448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accumulate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0.0</a:t>
            </a:r>
            <a:br>
              <a:rPr sz="1550"/>
            </a:b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/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}); 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5657040" y="1290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Разрешено преобразование: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→ const T&amp;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Это преобразование выполняется неявно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ссылка на l-value значение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3352680" y="1326600"/>
            <a:ext cx="37029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Разрешено преобразование: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→ T&amp;&amp;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Это преобразование должно быть выполнено явно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см. example1.cpp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Копирование аргументов при вызове функции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5472000" y="1440000"/>
            <a:ext cx="4391640" cy="41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Определять для каждой задачи 2 функции — долго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Чтобы избежать копипаста — определим одну функцию, принимающую IntVector, а не &amp; или 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Тогда аргумент myMetric1 станет аргументом конструктора IntVector при создании переменной param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Чтобы избежать копирования, нужно грамотно реализовать конструктор от IntVector&amp;&amp;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180000" y="1584000"/>
            <a:ext cx="5120640" cy="31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myMetric1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param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 */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myMetric1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param(arr);</a:t>
            </a:r>
            <a:br>
              <a:rPr sz="1750"/>
            </a:b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myMetric1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&amp;&amp;)arr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param((IntVector&amp;&amp;)arr);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Перемещающий конструктор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5472000" y="1440000"/>
            <a:ext cx="4391640" cy="41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Дополним класс IntVector ещё одним конструктором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Ему подаётся на вход ссылка на другой, «временный», объект IntVector, который вызывающему коду более не нужен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Поэтому мы можем «захватить» динамическую память, используемую переданным объектом, а после — порвать его связь с этой памятью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540000" y="1476000"/>
            <a:ext cx="4103640" cy="27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: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), 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550"/>
            </a:b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Перемещающий оператор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5472000" y="1440000"/>
            <a:ext cx="4391640" cy="41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Действует аналогично перемещающему конструктору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Позволяет перемещать уже созданные объекты: </a:t>
            </a:r>
            <a:br>
              <a:rPr sz="2000"/>
            </a:b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&amp;&amp;)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36000" y="1476000"/>
            <a:ext cx="5369760" cy="41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=(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== &amp;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Возврат из функции локального объекта класса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36000" y="1548000"/>
            <a:ext cx="5743440" cy="38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arr3(arr1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+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/* ... */</a:t>
            </a:r>
            <a:br>
              <a:rPr sz="1400"/>
            </a:br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arr3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arr4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arr5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arr6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arr4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arr5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2" name=""/>
          <p:cNvGrpSpPr/>
          <p:nvPr/>
        </p:nvGrpSpPr>
        <p:grpSpPr>
          <a:xfrm>
            <a:off x="5796000" y="2160000"/>
            <a:ext cx="1259640" cy="2879640"/>
            <a:chOff x="5796000" y="2160000"/>
            <a:chExt cx="1259640" cy="2879640"/>
          </a:xfrm>
        </p:grpSpPr>
        <p:sp>
          <p:nvSpPr>
            <p:cNvPr id="423" name=""/>
            <p:cNvSpPr/>
            <p:nvPr/>
          </p:nvSpPr>
          <p:spPr>
            <a:xfrm>
              <a:off x="5796000" y="2160000"/>
              <a:ext cx="1259640" cy="28796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4" name=""/>
            <p:cNvSpPr/>
            <p:nvPr/>
          </p:nvSpPr>
          <p:spPr>
            <a:xfrm>
              <a:off x="5976000" y="2224440"/>
              <a:ext cx="89964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arr6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"/>
            <p:cNvSpPr/>
            <p:nvPr/>
          </p:nvSpPr>
          <p:spPr>
            <a:xfrm>
              <a:off x="5976360" y="2728800"/>
              <a:ext cx="89928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"/>
            <p:cNvSpPr/>
            <p:nvPr/>
          </p:nvSpPr>
          <p:spPr>
            <a:xfrm>
              <a:off x="5976720" y="3305160"/>
              <a:ext cx="89892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ret val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"/>
            <p:cNvSpPr/>
            <p:nvPr/>
          </p:nvSpPr>
          <p:spPr>
            <a:xfrm>
              <a:off x="5977080" y="3845520"/>
              <a:ext cx="89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"/>
            <p:cNvSpPr/>
            <p:nvPr/>
          </p:nvSpPr>
          <p:spPr>
            <a:xfrm>
              <a:off x="5977440" y="4385880"/>
              <a:ext cx="89820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9" name=""/>
          <p:cNvGrpSpPr/>
          <p:nvPr/>
        </p:nvGrpSpPr>
        <p:grpSpPr>
          <a:xfrm>
            <a:off x="7236000" y="2160000"/>
            <a:ext cx="2699640" cy="2879640"/>
            <a:chOff x="7236000" y="2160000"/>
            <a:chExt cx="2699640" cy="2879640"/>
          </a:xfrm>
        </p:grpSpPr>
        <p:sp>
          <p:nvSpPr>
            <p:cNvPr id="430" name=""/>
            <p:cNvSpPr/>
            <p:nvPr/>
          </p:nvSpPr>
          <p:spPr>
            <a:xfrm>
              <a:off x="7236000" y="2160000"/>
              <a:ext cx="2699640" cy="28796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31" name=""/>
            <p:cNvSpPr/>
            <p:nvPr/>
          </p:nvSpPr>
          <p:spPr>
            <a:xfrm>
              <a:off x="7621560" y="2224440"/>
              <a:ext cx="192852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IntVector(ret val)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"/>
            <p:cNvSpPr/>
            <p:nvPr/>
          </p:nvSpPr>
          <p:spPr>
            <a:xfrm>
              <a:off x="7621920" y="2728800"/>
              <a:ext cx="19281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"/>
            <p:cNvSpPr/>
            <p:nvPr/>
          </p:nvSpPr>
          <p:spPr>
            <a:xfrm>
              <a:off x="7623360" y="3305160"/>
              <a:ext cx="192672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IntVector(arr3)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"/>
            <p:cNvSpPr/>
            <p:nvPr/>
          </p:nvSpPr>
          <p:spPr>
            <a:xfrm>
              <a:off x="7624080" y="3845520"/>
              <a:ext cx="192600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"/>
            <p:cNvSpPr/>
            <p:nvPr/>
          </p:nvSpPr>
          <p:spPr>
            <a:xfrm>
              <a:off x="7624800" y="4385880"/>
              <a:ext cx="192528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6" name=""/>
          <p:cNvSpPr/>
          <p:nvPr/>
        </p:nvSpPr>
        <p:spPr>
          <a:xfrm>
            <a:off x="6876000" y="2340000"/>
            <a:ext cx="745560" cy="36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7" name=""/>
          <p:cNvSpPr/>
          <p:nvPr/>
        </p:nvSpPr>
        <p:spPr>
          <a:xfrm>
            <a:off x="6871320" y="3492000"/>
            <a:ext cx="745560" cy="36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8" name=""/>
          <p:cNvSpPr/>
          <p:nvPr/>
        </p:nvSpPr>
        <p:spPr>
          <a:xfrm>
            <a:off x="6866640" y="4572000"/>
            <a:ext cx="745560" cy="36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9" name=""/>
          <p:cNvSpPr/>
          <p:nvPr/>
        </p:nvSpPr>
        <p:spPr>
          <a:xfrm>
            <a:off x="7524000" y="1692000"/>
            <a:ext cx="2095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 время «return»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6084360" y="1692000"/>
            <a:ext cx="674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504000" y="73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Оптимизация возврата из функции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36000" y="1548000"/>
            <a:ext cx="5743440" cy="38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arr3(arr1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+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/* ... */</a:t>
            </a:r>
            <a:br>
              <a:rPr sz="1400"/>
            </a:br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&amp;&amp;)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arr3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arr4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arr5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arr6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&amp;&amp;)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arr4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arr5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43" name=""/>
          <p:cNvGrpSpPr/>
          <p:nvPr/>
        </p:nvGrpSpPr>
        <p:grpSpPr>
          <a:xfrm>
            <a:off x="5796000" y="2160000"/>
            <a:ext cx="1115640" cy="2879640"/>
            <a:chOff x="5796000" y="2160000"/>
            <a:chExt cx="1115640" cy="2879640"/>
          </a:xfrm>
        </p:grpSpPr>
        <p:sp>
          <p:nvSpPr>
            <p:cNvPr id="444" name=""/>
            <p:cNvSpPr/>
            <p:nvPr/>
          </p:nvSpPr>
          <p:spPr>
            <a:xfrm>
              <a:off x="5796000" y="2160000"/>
              <a:ext cx="1115640" cy="28796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45" name=""/>
            <p:cNvSpPr/>
            <p:nvPr/>
          </p:nvSpPr>
          <p:spPr>
            <a:xfrm>
              <a:off x="5904000" y="2224440"/>
              <a:ext cx="89964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arr6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"/>
            <p:cNvSpPr/>
            <p:nvPr/>
          </p:nvSpPr>
          <p:spPr>
            <a:xfrm>
              <a:off x="5904360" y="2728800"/>
              <a:ext cx="89928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"/>
            <p:cNvSpPr/>
            <p:nvPr/>
          </p:nvSpPr>
          <p:spPr>
            <a:xfrm>
              <a:off x="5904720" y="3305160"/>
              <a:ext cx="89892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ret val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"/>
            <p:cNvSpPr/>
            <p:nvPr/>
          </p:nvSpPr>
          <p:spPr>
            <a:xfrm>
              <a:off x="5905080" y="3845520"/>
              <a:ext cx="8985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"/>
            <p:cNvSpPr/>
            <p:nvPr/>
          </p:nvSpPr>
          <p:spPr>
            <a:xfrm>
              <a:off x="5905440" y="4385880"/>
              <a:ext cx="89820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0" name=""/>
          <p:cNvGrpSpPr/>
          <p:nvPr/>
        </p:nvGrpSpPr>
        <p:grpSpPr>
          <a:xfrm>
            <a:off x="7272000" y="2160000"/>
            <a:ext cx="2627640" cy="2879640"/>
            <a:chOff x="7272000" y="2160000"/>
            <a:chExt cx="2627640" cy="2879640"/>
          </a:xfrm>
        </p:grpSpPr>
        <p:sp>
          <p:nvSpPr>
            <p:cNvPr id="451" name=""/>
            <p:cNvSpPr/>
            <p:nvPr/>
          </p:nvSpPr>
          <p:spPr>
            <a:xfrm>
              <a:off x="7272000" y="2160000"/>
              <a:ext cx="2627640" cy="28796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52" name=""/>
            <p:cNvSpPr/>
            <p:nvPr/>
          </p:nvSpPr>
          <p:spPr>
            <a:xfrm>
              <a:off x="7441560" y="2224440"/>
              <a:ext cx="228852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IntVector(&amp;&amp;ret val)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"/>
            <p:cNvSpPr/>
            <p:nvPr/>
          </p:nvSpPr>
          <p:spPr>
            <a:xfrm>
              <a:off x="7441920" y="2728800"/>
              <a:ext cx="22881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4" name=""/>
            <p:cNvSpPr/>
            <p:nvPr/>
          </p:nvSpPr>
          <p:spPr>
            <a:xfrm>
              <a:off x="7443720" y="3305160"/>
              <a:ext cx="228636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IntVector(&amp;&amp;arr3)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5" name=""/>
            <p:cNvSpPr/>
            <p:nvPr/>
          </p:nvSpPr>
          <p:spPr>
            <a:xfrm>
              <a:off x="7444440" y="3845520"/>
              <a:ext cx="228564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6" name=""/>
            <p:cNvSpPr/>
            <p:nvPr/>
          </p:nvSpPr>
          <p:spPr>
            <a:xfrm>
              <a:off x="7445160" y="4385880"/>
              <a:ext cx="228492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DejaVu Sans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7" name=""/>
          <p:cNvSpPr/>
          <p:nvPr/>
        </p:nvSpPr>
        <p:spPr>
          <a:xfrm>
            <a:off x="6804000" y="2412000"/>
            <a:ext cx="637560" cy="36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8" name=""/>
          <p:cNvSpPr/>
          <p:nvPr/>
        </p:nvSpPr>
        <p:spPr>
          <a:xfrm>
            <a:off x="7488000" y="1692000"/>
            <a:ext cx="2095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 время «return»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6012360" y="1692000"/>
            <a:ext cx="674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6799320" y="3492000"/>
            <a:ext cx="637560" cy="36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1" name=""/>
          <p:cNvSpPr/>
          <p:nvPr/>
        </p:nvSpPr>
        <p:spPr>
          <a:xfrm>
            <a:off x="6794640" y="4572000"/>
            <a:ext cx="637560" cy="36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504000" y="13320"/>
            <a:ext cx="9071280" cy="187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Семантика перемещений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(move-семантика).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std::move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216360" y="2016360"/>
            <a:ext cx="566820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0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50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&lt;utility&gt;</a:t>
            </a:r>
            <a:br>
              <a:rPr sz="1500"/>
            </a:br>
            <a:r>
              <a:rPr b="0" i="1" lang="ru-RU" sz="15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/* ... */</a:t>
            </a:r>
            <a:br>
              <a:rPr sz="1500"/>
            </a:br>
            <a:r>
              <a:rPr b="0" i="1" lang="ru-RU" sz="15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arr3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00"/>
            </a:b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arr4 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00"/>
            </a:b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arr5 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00"/>
            </a:b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arr6 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::move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arr4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arr5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/>
          </p:nvPr>
        </p:nvSpPr>
        <p:spPr>
          <a:xfrm>
            <a:off x="6120000" y="2250000"/>
            <a:ext cx="3743640" cy="242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std::move принимает T и возвращает T&amp;&amp;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move-семантика — концепция, при которой ненужные более объекты перемещаются, а не копируются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504000" y="325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Основные правила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move-семантики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/>
          </p:nvPr>
        </p:nvSpPr>
        <p:spPr>
          <a:xfrm>
            <a:off x="180000" y="2250000"/>
            <a:ext cx="9683640" cy="31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 возвращении локальной переменной из функции</a:t>
            </a:r>
            <a:br>
              <a:rPr sz="2000"/>
            </a:br>
            <a:r>
              <a:rPr b="0" lang="ru-RU" sz="20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return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 == </a:t>
            </a:r>
            <a:r>
              <a:rPr b="0" lang="ru-RU" sz="20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return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Arial"/>
              </a:rPr>
              <a:t>move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(a)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 работе с любым r-value значением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==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Arial"/>
              </a:rPr>
              <a:t>move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(r-value)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1080000" y="1728000"/>
            <a:ext cx="76352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Компилятор автоматически преобразует T к T&amp;&amp; при: 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504000" y="4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Ключевое слово noexcept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108360" y="1512360"/>
            <a:ext cx="5291280" cy="21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noexcept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=(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noexcept;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/>
          </p:nvPr>
        </p:nvSpPr>
        <p:spPr>
          <a:xfrm>
            <a:off x="5400000" y="1440000"/>
            <a:ext cx="4319640" cy="39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Этим словом помечается метод, не бросающий исключений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Перемещающие конструктор и оператор присваивания стоит объявлять как noexcept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противном случае стандартные контейнеры будут использовать их копирующие аналоги (подробнее — на сайте </a:t>
            </a:r>
            <a:r>
              <a:rPr b="0" lang="ru-RU" sz="2000" strike="noStrike" u="none">
                <a:solidFill>
                  <a:srgbClr val="0000ee"/>
                </a:solidFill>
                <a:effectLst/>
                <a:uFillTx/>
                <a:latin typeface="Arial"/>
                <a:hlinkClick r:id="rId1"/>
              </a:rPr>
              <a:t>metanit.com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Умные указатели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504000" y="4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std::unique_ptr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108360" y="1368360"/>
            <a:ext cx="5291280" cy="41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&lt;memory&gt;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...*/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std::unique_ptr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"Адрес: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Адрес: 0x5f9d457d42f0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"Новое значение: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*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Новое значение: 12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reset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"Новый адрес: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Новый адрес: 0x5a23dd3fa310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std::unique_ptr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move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/>
          </p:nvPr>
        </p:nvSpPr>
        <p:spPr>
          <a:xfrm>
            <a:off x="5400000" y="1404000"/>
            <a:ext cx="4499640" cy="41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Класс-обёртка над указателем, обеспечивающий единоличное пользование хранимым объектом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Может ссылаться на массивы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 unique_ptr удалён конструктор копирования, его объекты можно только перемещать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Методы: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get() — возвращает «сырой» указатель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reset(T*) — освобождает память предыдущего объекта и захватывает новый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504000" y="4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std::shared_ptr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108360" y="1404360"/>
            <a:ext cx="5291280" cy="41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&lt;memory&gt;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std::shared_ptr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"Адрес: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Адрес: 0x5f42a0fe2770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"Новое значение: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Новое значение: 12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"Новый адрес: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Новый адрес: 0x5f42a0fe2770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std::shared_ptr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/>
          </p:nvPr>
        </p:nvSpPr>
        <p:spPr>
          <a:xfrm>
            <a:off x="5400000" y="1260000"/>
            <a:ext cx="4499640" cy="42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Класс-обёртка над указателем, обеспечивающий множественное пользование хранимым объектом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Может ссылаться на массивы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 shared_ptr конструктор копирования копирует лишь указатели, обеспечивая хранимый объект несколькими владельцами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 хранимого объекта очищается лишь после удаления последнего shared_ptr, связанного с ним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Методы, как у unique_ptr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504000" y="4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Умные указатели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72000" y="1335240"/>
            <a:ext cx="5291280" cy="24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&lt;memory&gt;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2a6099"/>
                </a:solidFill>
                <a:effectLst/>
                <a:uFillTx/>
                <a:latin typeface="JetBrains Mono"/>
                <a:ea typeface="JetBrains Mono"/>
              </a:rPr>
              <a:t>unique_ptr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make_unique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ptr2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make_shared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6.7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/>
          </p:nvPr>
        </p:nvSpPr>
        <p:spPr>
          <a:xfrm>
            <a:off x="5400000" y="1260000"/>
            <a:ext cx="4499640" cy="26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Инициализируются значением </a:t>
            </a:r>
            <a:r>
              <a:rPr b="0" lang="ru-RU" sz="20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nullptr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по-умолчанию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Функции </a:t>
            </a:r>
            <a:r>
              <a:rPr b="0" lang="ru-RU" sz="20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std::make_unique()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и </a:t>
            </a:r>
            <a:r>
              <a:rPr b="0" lang="ru-RU" sz="20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std::make_shared()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принимают объект и возвращают умный указатель на его копию в динамической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504000" y="1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Умные указатели.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Собственная реализация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2808000" y="1476000"/>
            <a:ext cx="4499640" cy="26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см. файлы unique.hpp и shared.hpp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43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Гарантии безопасности исключений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504000" y="1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Гарантии безопасности исключений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/>
          </p:nvPr>
        </p:nvSpPr>
        <p:spPr>
          <a:xfrm>
            <a:off x="180000" y="1872000"/>
            <a:ext cx="9719640" cy="26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Полная гарантия: функция не бросает исключений (noexcept)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гарантия: если во время исполнения функции выбрасывается исключение, она обязуется вернуть все данные программы к их состоянию до вызова этой функции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Базовая гарантия: если во время исполнения функции выбрасывается исключение, она обязуется оставить данные программы в неком согласованном (годном для дальнейшего использования) виде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504000" y="1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 безопасности исключений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72000" y="1443240"/>
            <a:ext cx="694764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function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)&gt;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func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initial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pos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{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initial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i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&lt;=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++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func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/>
          </p:nvPr>
        </p:nvSpPr>
        <p:spPr>
          <a:xfrm>
            <a:off x="7020000" y="1432440"/>
            <a:ext cx="3059640" cy="30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Возможна утечка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Данная функция не обеспечивает никакой гарантии безопасности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Правильный подход — использовать vector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504000" y="1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 безопасности исключений. Проблема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72000" y="1335240"/>
            <a:ext cx="9827640" cy="17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unique_ptr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makeUniquePair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180000" y="3168000"/>
            <a:ext cx="9719640" cy="23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Порядок выполнения инструкций:</a:t>
            </a:r>
            <a:br>
              <a:rPr sz="1700"/>
            </a:b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temp1 = </a:t>
            </a:r>
            <a:r>
              <a:rPr b="0" lang="ru-RU" sz="17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700"/>
            </a:b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temp2 =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7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700"/>
            </a:b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Если исключение будет брошено сейчас, то будет утечка памяти!</a:t>
            </a:r>
            <a:br>
              <a:rPr sz="1700"/>
            </a:b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temp3 =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IntVecPtr(temp1)</a:t>
            </a:r>
            <a:br>
              <a:rPr sz="1700"/>
            </a:b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temp4 = IntVecPtr(temp2)</a:t>
            </a:r>
            <a:br>
              <a:rPr sz="1700"/>
            </a:br>
            <a:r>
              <a:rPr b="0" lang="ru-RU" sz="17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7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IntVecPtr</a:t>
            </a:r>
            <a:r>
              <a:rPr b="0" lang="ru-RU" sz="17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IntVecPtr</a:t>
            </a:r>
            <a:r>
              <a:rPr b="0" lang="ru-RU" sz="17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7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temp3), 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(temp4</a:t>
            </a:r>
            <a:r>
              <a:rPr b="0" lang="ru-RU" sz="17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504000" y="1800"/>
            <a:ext cx="907128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 безопасности исключений. Решение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72000" y="1335240"/>
            <a:ext cx="9827640" cy="21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unique_ptr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makeUniquePair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{make_unique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),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make_unique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72000" y="3711600"/>
            <a:ext cx="9827640" cy="17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makeUniquePair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vecB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),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2025-11-17T16:08:28Z</dcterms:created>
  <dc:creator/>
  <dc:description/>
  <dc:language>ru-RU</dc:language>
  <cp:lastModifiedBy/>
  <dcterms:modified xsi:type="dcterms:W3CDTF">2025-11-23T19:59:34Z</dcterms:modified>
  <cp:revision>78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