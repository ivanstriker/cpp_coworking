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presProps.xml" ContentType="application/vnd.openxmlformats-officedocument.presentationml.presProps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64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_rels/slide22.xml.rels" ContentType="application/vnd.openxmlformats-package.relationships+xml"/>
  <Override PartName="/ppt/slides/_rels/slide35.xml.rels" ContentType="application/vnd.openxmlformats-package.relationships+xml"/>
  <Override PartName="/ppt/slides/_rels/slide45.xml.rels" ContentType="application/vnd.openxmlformats-package.relationships+xml"/>
  <Override PartName="/ppt/slides/_rels/slide18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0.xml.rels" ContentType="application/vnd.openxmlformats-package.relationships+xml"/>
  <Override PartName="/ppt/slides/_rels/slide46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47.xml.rels" ContentType="application/vnd.openxmlformats-package.relationships+xml"/>
  <Override PartName="/ppt/slides/_rels/slide3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64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5.xml.rels" ContentType="application/vnd.openxmlformats-package.relationships+xml"/>
  <Override PartName="/ppt/slides/_rels/slide50.xml.rels" ContentType="application/vnd.openxmlformats-package.relationships+xml"/>
  <Override PartName="/ppt/slides/_rels/slide42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51.xml.rels" ContentType="application/vnd.openxmlformats-package.relationships+xml"/>
  <Override PartName="/ppt/slides/_rels/slide43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_rels/slide52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53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49.xml.rels" ContentType="application/vnd.openxmlformats-package.relationships+xml"/>
  <Override PartName="/ppt/slides/_rels/slide14.xml.rels" ContentType="application/vnd.openxmlformats-package.relationships+xml"/>
  <Override PartName="/ppt/slides/_rels/slide48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44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54.xml.rels" ContentType="application/vnd.openxmlformats-package.relationships+xml"/>
  <Override PartName="/ppt/slides/_rels/slide55.xml.rels" ContentType="application/vnd.openxmlformats-package.relationships+xml"/>
  <Override PartName="/ppt/slides/_rels/slide56.xml.rels" ContentType="application/vnd.openxmlformats-package.relationships+xml"/>
  <Override PartName="/ppt/slides/_rels/slide57.xml.rels" ContentType="application/vnd.openxmlformats-package.relationships+xml"/>
  <Override PartName="/ppt/slides/_rels/slide58.xml.rels" ContentType="application/vnd.openxmlformats-package.relationships+xml"/>
  <Override PartName="/ppt/slides/_rels/slide59.xml.rels" ContentType="application/vnd.openxmlformats-package.relationships+xml"/>
  <Override PartName="/ppt/slides/_rels/slide60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5.xml.rels" ContentType="application/vnd.openxmlformats-package.relationships+xml"/>
  <Override PartName="/ppt/slides/_rels/slide66.xml.rels" ContentType="application/vnd.openxmlformats-package.relationships+xml"/>
  <Override PartName="/ppt/slides/_rels/slide67.xml.rels" ContentType="application/vnd.openxmlformats-package.relationships+xml"/>
  <Override PartName="/ppt/slides/_rels/slide68.xml.rels" ContentType="application/vnd.openxmlformats-package.relationships+xml"/>
  <Override PartName="/ppt/slides/_rels/slide69.xml.rels" ContentType="application/vnd.openxmlformats-package.relationships+xml"/>
  <Override PartName="/ppt/slides/_rels/slide70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  <p:sldId id="325" r:id="rId72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slide" Target="slides/slide61.xml"/><Relationship Id="rId64" Type="http://schemas.openxmlformats.org/officeDocument/2006/relationships/slide" Target="slides/slide62.xml"/><Relationship Id="rId65" Type="http://schemas.openxmlformats.org/officeDocument/2006/relationships/slide" Target="slides/slide63.xml"/><Relationship Id="rId66" Type="http://schemas.openxmlformats.org/officeDocument/2006/relationships/slide" Target="slides/slide64.xml"/><Relationship Id="rId67" Type="http://schemas.openxmlformats.org/officeDocument/2006/relationships/slide" Target="slides/slide65.xml"/><Relationship Id="rId68" Type="http://schemas.openxmlformats.org/officeDocument/2006/relationships/slide" Target="slides/slide66.xml"/><Relationship Id="rId69" Type="http://schemas.openxmlformats.org/officeDocument/2006/relationships/slide" Target="slides/slide67.xml"/><Relationship Id="rId70" Type="http://schemas.openxmlformats.org/officeDocument/2006/relationships/slide" Target="slides/slide68.xml"/><Relationship Id="rId71" Type="http://schemas.openxmlformats.org/officeDocument/2006/relationships/slide" Target="slides/slide69.xml"/><Relationship Id="rId72" Type="http://schemas.openxmlformats.org/officeDocument/2006/relationships/slide" Target="slides/slide70.xml"/><Relationship Id="rId7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5F9FAA-BE9C-4368-B241-08E6D6D65622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12C9FD0-444C-4A42-B914-3A4BB4485304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FDBD88-4481-420A-B8E5-0150AED8A8E6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20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20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0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1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0023FCF-FE1A-4B0F-9A5E-7C7AD0ED4938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dt" idx="12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hyperlink" Target="https://metanit.com/cpp/tutorial/14.4.php" TargetMode="External"/><Relationship Id="rId2" Type="http://schemas.openxmlformats.org/officeDocument/2006/relationships/slideLayout" Target="../slideLayouts/slideLayout4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360" y="1896840"/>
            <a:ext cx="9070920" cy="187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Управление памятью в C++.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Указатели, ссылки, 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move-семантика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subTitle"/>
          </p:nvPr>
        </p:nvSpPr>
        <p:spPr>
          <a:xfrm>
            <a:off x="504000" y="225360"/>
            <a:ext cx="9070920" cy="438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Сегменты памяти и их устройство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Сегменты памяти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ОЗУ: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Сегмент кода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Сегмент данных: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Сегмент глобальных данных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Стек вызовов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Динамическая память (куча)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Регистры процессора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40000" y="-72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Сегмент глобальных данных.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Глобальные переменные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5220000" y="1620000"/>
            <a:ext cx="4426200" cy="323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Всегда инициализируются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Проблема порядка инициализации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540000" y="1659240"/>
            <a:ext cx="4679280" cy="31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a1 == 0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a2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a3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a4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{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750"/>
            </a:b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string s1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Переменная s == "" 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string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Функция "s"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1620000" y="1080000"/>
            <a:ext cx="1799280" cy="39592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Стек вызовов. Общие сведения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5148720" y="1260000"/>
            <a:ext cx="442620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Складываются локальные переменные и временные значения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У каждого потока свой стек вызовов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Размер стека по-умолчанию: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Linux: 8 Мб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ulimit -s &lt;размер в Кб&gt;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Windows, MacOS: 1 Мб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Устанавливается через настройки компилятора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1800360" y="115236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main()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1800360" y="158436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 = ?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1800360" y="158436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 = 17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1800360" y="158436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average()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37" name=""/>
          <p:cNvGrpSpPr/>
          <p:nvPr/>
        </p:nvGrpSpPr>
        <p:grpSpPr>
          <a:xfrm>
            <a:off x="0" y="1064880"/>
            <a:ext cx="1620000" cy="539280"/>
            <a:chOff x="0" y="1064880"/>
            <a:chExt cx="1620000" cy="539280"/>
          </a:xfrm>
        </p:grpSpPr>
        <p:sp>
          <p:nvSpPr>
            <p:cNvPr id="38" name=""/>
            <p:cNvSpPr/>
            <p:nvPr/>
          </p:nvSpPr>
          <p:spPr>
            <a:xfrm flipV="1">
              <a:off x="720000" y="1064880"/>
              <a:ext cx="900000" cy="193680"/>
            </a:xfrm>
            <a:prstGeom prst="line">
              <a:avLst/>
            </a:prstGeom>
            <a:ln w="0">
              <a:solidFill>
                <a:srgbClr val="3465a4"/>
              </a:solidFill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9" name=""/>
            <p:cNvSpPr/>
            <p:nvPr/>
          </p:nvSpPr>
          <p:spPr>
            <a:xfrm>
              <a:off x="0" y="1258560"/>
              <a:ext cx="152676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rPr>
                <a:t>frame pointer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0" name=""/>
          <p:cNvGrpSpPr/>
          <p:nvPr/>
        </p:nvGrpSpPr>
        <p:grpSpPr>
          <a:xfrm>
            <a:off x="3420000" y="1467360"/>
            <a:ext cx="1656000" cy="489600"/>
            <a:chOff x="3420000" y="1467360"/>
            <a:chExt cx="1656000" cy="489600"/>
          </a:xfrm>
        </p:grpSpPr>
        <p:sp>
          <p:nvSpPr>
            <p:cNvPr id="41" name=""/>
            <p:cNvSpPr/>
            <p:nvPr/>
          </p:nvSpPr>
          <p:spPr>
            <a:xfrm flipH="1" flipV="1">
              <a:off x="3420000" y="1467360"/>
              <a:ext cx="540000" cy="180000"/>
            </a:xfrm>
            <a:prstGeom prst="line">
              <a:avLst/>
            </a:prstGeom>
            <a:ln w="0">
              <a:solidFill>
                <a:srgbClr val="3465a4"/>
              </a:solidFill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2" name=""/>
            <p:cNvSpPr/>
            <p:nvPr/>
          </p:nvSpPr>
          <p:spPr>
            <a:xfrm>
              <a:off x="3600000" y="1611360"/>
              <a:ext cx="147600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rPr>
                <a:t>stack pointer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Стек вызовов. Пример работы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5112000" y="1208520"/>
            <a:ext cx="4986720" cy="38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average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result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/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result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br>
              <a:rPr sz="1750"/>
            </a:b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main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f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g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average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f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f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g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/=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1620000" y="1080000"/>
            <a:ext cx="1799280" cy="39592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46" name=""/>
          <p:cNvGrpSpPr/>
          <p:nvPr/>
        </p:nvGrpSpPr>
        <p:grpSpPr>
          <a:xfrm>
            <a:off x="0" y="1080000"/>
            <a:ext cx="1620000" cy="539280"/>
            <a:chOff x="0" y="1080000"/>
            <a:chExt cx="1620000" cy="539280"/>
          </a:xfrm>
        </p:grpSpPr>
        <p:sp>
          <p:nvSpPr>
            <p:cNvPr id="47" name=""/>
            <p:cNvSpPr/>
            <p:nvPr/>
          </p:nvSpPr>
          <p:spPr>
            <a:xfrm flipV="1">
              <a:off x="720000" y="1080000"/>
              <a:ext cx="900000" cy="193680"/>
            </a:xfrm>
            <a:prstGeom prst="line">
              <a:avLst/>
            </a:prstGeom>
            <a:ln w="0">
              <a:solidFill>
                <a:srgbClr val="3465a4"/>
              </a:solidFill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8" name=""/>
            <p:cNvSpPr/>
            <p:nvPr/>
          </p:nvSpPr>
          <p:spPr>
            <a:xfrm>
              <a:off x="0" y="1273680"/>
              <a:ext cx="152676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rPr>
                <a:t>frame pointer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9" name=""/>
          <p:cNvSpPr/>
          <p:nvPr/>
        </p:nvSpPr>
        <p:spPr>
          <a:xfrm>
            <a:off x="1800000" y="115200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f = 12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1800000" y="158400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 = ?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1800360" y="201636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ret val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1800720" y="244872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ret addr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1801080" y="288108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prev frame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1801440" y="331344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b = 22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1801800" y="374580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 = 12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1802160" y="417816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result = ?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1802520" y="461052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 + b = 34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1802520" y="417852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result = 17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59" name=""/>
          <p:cNvGrpSpPr/>
          <p:nvPr/>
        </p:nvGrpSpPr>
        <p:grpSpPr>
          <a:xfrm>
            <a:off x="3420000" y="1476000"/>
            <a:ext cx="1656000" cy="489600"/>
            <a:chOff x="3420000" y="1476000"/>
            <a:chExt cx="1656000" cy="489600"/>
          </a:xfrm>
        </p:grpSpPr>
        <p:sp>
          <p:nvSpPr>
            <p:cNvPr id="60" name=""/>
            <p:cNvSpPr/>
            <p:nvPr/>
          </p:nvSpPr>
          <p:spPr>
            <a:xfrm flipH="1" flipV="1">
              <a:off x="3420000" y="1476000"/>
              <a:ext cx="540000" cy="180000"/>
            </a:xfrm>
            <a:prstGeom prst="line">
              <a:avLst/>
            </a:prstGeom>
            <a:ln w="0">
              <a:solidFill>
                <a:srgbClr val="3465a4"/>
              </a:solidFill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61" name=""/>
            <p:cNvSpPr/>
            <p:nvPr/>
          </p:nvSpPr>
          <p:spPr>
            <a:xfrm>
              <a:off x="3600000" y="1620000"/>
              <a:ext cx="1476000" cy="34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rPr>
                <a:t>stack pointer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" name=""/>
          <p:cNvSpPr/>
          <p:nvPr/>
        </p:nvSpPr>
        <p:spPr>
          <a:xfrm>
            <a:off x="1800720" y="201672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ret val = 17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1800000" y="158400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 = 17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1800000" y="1584000"/>
            <a:ext cx="1439280" cy="35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 = 1.13333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0602527912257383 L -3.57142857142857E-005 0.07949567417902 E">
                                      <p:cBhvr>
                                        <p:cTn id="8" dur="10" fill="hold"/>
                                        <p:tgtEl>
                                          <p:spTgt spid="5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134486201995524 C -3.57142857142857E-005 0.155593153118993 -3.57142857142857E-005 0.155593153118993 -3.57142857142857E-005 0.155593153118993 E">
                                      <p:cBhvr>
                                        <p:cTn id="14" dur="10" fill="hold"/>
                                        <p:tgtEl>
                                          <p:spTgt spid="5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209989382119697 C -3.57142857142857E-005 0.226772522642209 -3.57142857142857E-005 0.226772522642209 -3.57142857142857E-005 0.226772522642209 E">
                                      <p:cBhvr>
                                        <p:cTn id="20" dur="10" fill="hold"/>
                                        <p:tgtEl>
                                          <p:spTgt spid="5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291078125002842 C -3.57142857142857E-005 0.333285844084961 -3.57142857142857E-005 0.312181984543902 -3.57142857142857E-005 0.312181984543902 E">
                                      <p:cBhvr>
                                        <p:cTn id="26" dur="10" fill="hold"/>
                                        <p:tgtEl>
                                          <p:spTgt spid="5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78571428571429 0.0756825396825397 L -0.00178571428571429 0.380444444444445 E">
                                      <p:cBhvr>
                                        <p:cTn id="28" dur="10" fill="hold"/>
                                        <p:tgtEl>
                                          <p:spTgt spid="46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36914706774567 C -3.57142857142857E-005 0.40964625358778 -3.57142857142857E-005 0.389396660666725 -3.57142857142857E-005 0.389396660666725 E">
                                      <p:cBhvr>
                                        <p:cTn id="34" dur="10" fill="hold"/>
                                        <p:tgtEl>
                                          <p:spTgt spid="5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44115029404377 L -3.57142857142857E-005 0.460605193977226 E">
                                      <p:cBhvr>
                                        <p:cTn id="40" dur="10" fill="hold"/>
                                        <p:tgtEl>
                                          <p:spTgt spid="5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513590415639462 L -3.57142857142857E-005 0.539540850309243 E">
                                      <p:cBhvr>
                                        <p:cTn id="46" dur="10" fill="hold"/>
                                        <p:tgtEl>
                                          <p:spTgt spid="5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588016262272393 L -3.57142857142857E-005 0.611112149128498 E">
                                      <p:cBhvr>
                                        <p:cTn id="52" dur="10" fill="hold"/>
                                        <p:tgtEl>
                                          <p:spTgt spid="5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nodeType="click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604679009178169 L -3.57142857142857E-005 0.539181160801563 E">
                                      <p:cBhvr>
                                        <p:cTn id="58" dur="10" fill="hold"/>
                                        <p:tgtEl>
                                          <p:spTgt spid="5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9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nodeType="click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50431746031746 C -3.57142857142857E-005 0.091619047619047 -3.57142857142857E-005 0.409079365079365 -3.57142857142857E-005 0.155111111111111 E">
                                      <p:cBhvr>
                                        <p:cTn id="80" dur="10" fill="hold"/>
                                        <p:tgtEl>
                                          <p:spTgt spid="5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1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78571428571429 0.304253968253968 L -0.00178571428571429 -0.000507936507937012 E">
                                      <p:cBhvr>
                                        <p:cTn id="82" dur="10" fill="hold"/>
                                        <p:tgtEl>
                                          <p:spTgt spid="46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nodeType="click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nodeType="with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nodeType="withEffect" fill="hold" presetClass="path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57142857142857E-005 0.142412698412698 C -3.57142857142857E-005 0.0789206349206345 -3.57142857142857E-005 0.0789206349206345 -3.57142857142857E-005 0.0789206349206345 E">
                                      <p:cBhvr>
                                        <p:cTn id="92" dur="10" fill="hold"/>
                                        <p:tgtEl>
                                          <p:spTgt spid="59"/>
                                        </p:tgtEl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nodeType="clickEffect" fill="hold" presetClass="exit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subTitle"/>
          </p:nvPr>
        </p:nvSpPr>
        <p:spPr>
          <a:xfrm>
            <a:off x="504000" y="225360"/>
            <a:ext cx="9070920" cy="438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Переменные, указатели, ссылки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Переменные в памяти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620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Переменная = адрес первого байта + кол-во байт + способ интерпретации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Разряды могут располагаться в разном порядке в зависимости от железа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Отрицательные целые числа: дополнительный код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Вещественные числа = мантисса + экспонента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504000" y="1800000"/>
            <a:ext cx="4139280" cy="7192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" name=""/>
          <p:cNvSpPr/>
          <p:nvPr/>
        </p:nvSpPr>
        <p:spPr>
          <a:xfrm>
            <a:off x="612000" y="1800000"/>
            <a:ext cx="899280" cy="71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44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1620360" y="1800360"/>
            <a:ext cx="899280" cy="71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2628720" y="1800720"/>
            <a:ext cx="899280" cy="71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0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3637080" y="1801080"/>
            <a:ext cx="899280" cy="71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0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523800" y="1260000"/>
            <a:ext cx="178272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300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"/>
          <p:cNvGrpSpPr/>
          <p:nvPr/>
        </p:nvGrpSpPr>
        <p:grpSpPr>
          <a:xfrm>
            <a:off x="540000" y="3598920"/>
            <a:ext cx="1259280" cy="719280"/>
            <a:chOff x="540000" y="3598920"/>
            <a:chExt cx="1259280" cy="719280"/>
          </a:xfrm>
        </p:grpSpPr>
        <p:sp>
          <p:nvSpPr>
            <p:cNvPr id="75" name=""/>
            <p:cNvSpPr/>
            <p:nvPr/>
          </p:nvSpPr>
          <p:spPr>
            <a:xfrm>
              <a:off x="540000" y="3598920"/>
              <a:ext cx="1259280" cy="7192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76" name=""/>
            <p:cNvSpPr/>
            <p:nvPr/>
          </p:nvSpPr>
          <p:spPr>
            <a:xfrm>
              <a:off x="720000" y="3598920"/>
              <a:ext cx="899280" cy="71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44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"/>
          <p:cNvSpPr/>
          <p:nvPr/>
        </p:nvSpPr>
        <p:spPr>
          <a:xfrm>
            <a:off x="540000" y="3058920"/>
            <a:ext cx="191628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'5'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Указатели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152680" y="1172520"/>
            <a:ext cx="4426200" cy="422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Указатель — объект, хранящий  адрес первого байта переменной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Указатель весит 8 б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Тип указателя зависит от типа переменной, на которой он ссылается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Ни на что не ссылающийся указатель должен содержать значение nullptr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Разрешены операции: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Взятие адреса (&amp;)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Разыменование (*)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Приведение типов указателей ((char*)c)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"/>
          <p:cNvGrpSpPr/>
          <p:nvPr/>
        </p:nvGrpSpPr>
        <p:grpSpPr>
          <a:xfrm>
            <a:off x="252000" y="1800720"/>
            <a:ext cx="2915280" cy="358200"/>
            <a:chOff x="252000" y="1800720"/>
            <a:chExt cx="2915280" cy="358200"/>
          </a:xfrm>
        </p:grpSpPr>
        <p:sp>
          <p:nvSpPr>
            <p:cNvPr id="81" name=""/>
            <p:cNvSpPr/>
            <p:nvPr/>
          </p:nvSpPr>
          <p:spPr>
            <a:xfrm>
              <a:off x="252000" y="1800720"/>
              <a:ext cx="2915280" cy="357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82" name=""/>
            <p:cNvSpPr/>
            <p:nvPr/>
          </p:nvSpPr>
          <p:spPr>
            <a:xfrm>
              <a:off x="327960" y="1800720"/>
              <a:ext cx="63360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44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"/>
            <p:cNvSpPr/>
            <p:nvPr/>
          </p:nvSpPr>
          <p:spPr>
            <a:xfrm>
              <a:off x="1038240" y="1800720"/>
              <a:ext cx="6332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1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" name=""/>
            <p:cNvSpPr/>
            <p:nvPr/>
          </p:nvSpPr>
          <p:spPr>
            <a:xfrm>
              <a:off x="1748520" y="1801080"/>
              <a:ext cx="6332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"/>
            <p:cNvSpPr/>
            <p:nvPr/>
          </p:nvSpPr>
          <p:spPr>
            <a:xfrm>
              <a:off x="2458800" y="1801080"/>
              <a:ext cx="633240" cy="3578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"/>
          <p:cNvSpPr/>
          <p:nvPr/>
        </p:nvSpPr>
        <p:spPr>
          <a:xfrm>
            <a:off x="235800" y="1260720"/>
            <a:ext cx="178272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300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180000" y="4680000"/>
            <a:ext cx="1979280" cy="5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&amp;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 flipH="1" flipV="1">
            <a:off x="540000" y="2340000"/>
            <a:ext cx="1800000" cy="1620000"/>
          </a:xfrm>
          <a:prstGeom prst="line">
            <a:avLst/>
          </a:prstGeom>
          <a:ln w="1908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54360" bIns="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89" name=""/>
          <p:cNvGrpSpPr/>
          <p:nvPr/>
        </p:nvGrpSpPr>
        <p:grpSpPr>
          <a:xfrm>
            <a:off x="180000" y="4140000"/>
            <a:ext cx="2159280" cy="358920"/>
            <a:chOff x="180000" y="4140000"/>
            <a:chExt cx="2159280" cy="358920"/>
          </a:xfrm>
        </p:grpSpPr>
        <p:sp>
          <p:nvSpPr>
            <p:cNvPr id="90" name=""/>
            <p:cNvSpPr/>
            <p:nvPr/>
          </p:nvSpPr>
          <p:spPr>
            <a:xfrm>
              <a:off x="180000" y="4140000"/>
              <a:ext cx="2159280" cy="3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91" name=""/>
            <p:cNvSpPr/>
            <p:nvPr/>
          </p:nvSpPr>
          <p:spPr>
            <a:xfrm>
              <a:off x="236160" y="414000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"/>
            <p:cNvSpPr/>
            <p:nvPr/>
          </p:nvSpPr>
          <p:spPr>
            <a:xfrm>
              <a:off x="762840" y="4140000"/>
              <a:ext cx="4683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"/>
            <p:cNvSpPr/>
            <p:nvPr/>
          </p:nvSpPr>
          <p:spPr>
            <a:xfrm>
              <a:off x="1288080" y="4140360"/>
              <a:ext cx="4694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"/>
            <p:cNvSpPr/>
            <p:nvPr/>
          </p:nvSpPr>
          <p:spPr>
            <a:xfrm>
              <a:off x="1814760" y="414036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95" name=""/>
          <p:cNvGrpSpPr/>
          <p:nvPr/>
        </p:nvGrpSpPr>
        <p:grpSpPr>
          <a:xfrm>
            <a:off x="2304000" y="4140360"/>
            <a:ext cx="2159280" cy="358920"/>
            <a:chOff x="2304000" y="4140360"/>
            <a:chExt cx="2159280" cy="358920"/>
          </a:xfrm>
        </p:grpSpPr>
        <p:sp>
          <p:nvSpPr>
            <p:cNvPr id="96" name=""/>
            <p:cNvSpPr/>
            <p:nvPr/>
          </p:nvSpPr>
          <p:spPr>
            <a:xfrm>
              <a:off x="2304000" y="4140360"/>
              <a:ext cx="2159280" cy="3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97" name=""/>
            <p:cNvSpPr/>
            <p:nvPr/>
          </p:nvSpPr>
          <p:spPr>
            <a:xfrm>
              <a:off x="2360160" y="414036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"/>
            <p:cNvSpPr/>
            <p:nvPr/>
          </p:nvSpPr>
          <p:spPr>
            <a:xfrm>
              <a:off x="2886840" y="4140360"/>
              <a:ext cx="4683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"/>
            <p:cNvSpPr/>
            <p:nvPr/>
          </p:nvSpPr>
          <p:spPr>
            <a:xfrm>
              <a:off x="3412080" y="4140720"/>
              <a:ext cx="4694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"/>
            <p:cNvSpPr/>
            <p:nvPr/>
          </p:nvSpPr>
          <p:spPr>
            <a:xfrm>
              <a:off x="3938760" y="414072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"/>
          <p:cNvGrpSpPr/>
          <p:nvPr/>
        </p:nvGrpSpPr>
        <p:grpSpPr>
          <a:xfrm>
            <a:off x="3528000" y="1799280"/>
            <a:ext cx="2699280" cy="360000"/>
            <a:chOff x="3528000" y="1799280"/>
            <a:chExt cx="2699280" cy="360000"/>
          </a:xfrm>
        </p:grpSpPr>
        <p:sp>
          <p:nvSpPr>
            <p:cNvPr id="102" name=""/>
            <p:cNvSpPr/>
            <p:nvPr/>
          </p:nvSpPr>
          <p:spPr>
            <a:xfrm>
              <a:off x="3528000" y="1799280"/>
              <a:ext cx="2699280" cy="3596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03" name=""/>
            <p:cNvSpPr/>
            <p:nvPr/>
          </p:nvSpPr>
          <p:spPr>
            <a:xfrm>
              <a:off x="3598200" y="1799280"/>
              <a:ext cx="586080" cy="3596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45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" name=""/>
            <p:cNvSpPr/>
            <p:nvPr/>
          </p:nvSpPr>
          <p:spPr>
            <a:xfrm>
              <a:off x="4256280" y="1799280"/>
              <a:ext cx="586080" cy="3596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"/>
            <p:cNvSpPr/>
            <p:nvPr/>
          </p:nvSpPr>
          <p:spPr>
            <a:xfrm>
              <a:off x="4913640" y="1799640"/>
              <a:ext cx="586440" cy="3596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"/>
            <p:cNvSpPr/>
            <p:nvPr/>
          </p:nvSpPr>
          <p:spPr>
            <a:xfrm>
              <a:off x="5571360" y="1799640"/>
              <a:ext cx="586080" cy="3596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Арифметика указателей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6120000" y="1326600"/>
            <a:ext cx="3779280" cy="173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Разрешены операции: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ptr + число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ptr - число или ptr - ptr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ptr[число]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6305040" y="3408840"/>
            <a:ext cx="2154240" cy="16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&amp;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&amp;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0" name=""/>
          <p:cNvGrpSpPr/>
          <p:nvPr/>
        </p:nvGrpSpPr>
        <p:grpSpPr>
          <a:xfrm>
            <a:off x="180000" y="1800000"/>
            <a:ext cx="2629440" cy="359280"/>
            <a:chOff x="180000" y="1800000"/>
            <a:chExt cx="2629440" cy="359280"/>
          </a:xfrm>
        </p:grpSpPr>
        <p:sp>
          <p:nvSpPr>
            <p:cNvPr id="111" name=""/>
            <p:cNvSpPr/>
            <p:nvPr/>
          </p:nvSpPr>
          <p:spPr>
            <a:xfrm>
              <a:off x="180000" y="1800000"/>
              <a:ext cx="2629440" cy="35892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12" name=""/>
            <p:cNvSpPr/>
            <p:nvPr/>
          </p:nvSpPr>
          <p:spPr>
            <a:xfrm>
              <a:off x="248400" y="1800000"/>
              <a:ext cx="570960" cy="3589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12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"/>
            <p:cNvSpPr/>
            <p:nvPr/>
          </p:nvSpPr>
          <p:spPr>
            <a:xfrm>
              <a:off x="889560" y="1800000"/>
              <a:ext cx="570960" cy="3589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"/>
            <p:cNvSpPr/>
            <p:nvPr/>
          </p:nvSpPr>
          <p:spPr>
            <a:xfrm>
              <a:off x="1529640" y="1800360"/>
              <a:ext cx="571320" cy="3589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"/>
            <p:cNvSpPr/>
            <p:nvPr/>
          </p:nvSpPr>
          <p:spPr>
            <a:xfrm>
              <a:off x="2170440" y="1800360"/>
              <a:ext cx="570960" cy="35892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6" name=""/>
          <p:cNvSpPr/>
          <p:nvPr/>
        </p:nvSpPr>
        <p:spPr>
          <a:xfrm>
            <a:off x="199800" y="1369080"/>
            <a:ext cx="44712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a: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7" name=""/>
          <p:cNvGrpSpPr/>
          <p:nvPr/>
        </p:nvGrpSpPr>
        <p:grpSpPr>
          <a:xfrm>
            <a:off x="648000" y="2340000"/>
            <a:ext cx="440640" cy="1328040"/>
            <a:chOff x="648000" y="2340000"/>
            <a:chExt cx="440640" cy="1328040"/>
          </a:xfrm>
        </p:grpSpPr>
        <p:sp>
          <p:nvSpPr>
            <p:cNvPr id="118" name=""/>
            <p:cNvSpPr/>
            <p:nvPr/>
          </p:nvSpPr>
          <p:spPr>
            <a:xfrm>
              <a:off x="756000" y="3240000"/>
              <a:ext cx="332640" cy="428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750" strike="noStrike" u="none">
                  <a:solidFill>
                    <a:srgbClr val="000000"/>
                  </a:solidFill>
                  <a:effectLst/>
                  <a:uFillTx/>
                  <a:latin typeface="JetBrains Mono"/>
                  <a:ea typeface="JetBrains Mono"/>
                </a:rPr>
                <a:t>p</a:t>
              </a:r>
              <a:endPara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"/>
            <p:cNvSpPr/>
            <p:nvPr/>
          </p:nvSpPr>
          <p:spPr>
            <a:xfrm flipH="1" flipV="1">
              <a:off x="648000" y="2340000"/>
              <a:ext cx="180000" cy="900000"/>
            </a:xfrm>
            <a:prstGeom prst="line">
              <a:avLst/>
            </a:prstGeom>
            <a:ln w="19080">
              <a:solidFill>
                <a:srgbClr val="3465a4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9360" rIns="99360" tIns="54360" bIns="5436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grpSp>
        <p:nvGrpSpPr>
          <p:cNvPr id="120" name=""/>
          <p:cNvGrpSpPr/>
          <p:nvPr/>
        </p:nvGrpSpPr>
        <p:grpSpPr>
          <a:xfrm>
            <a:off x="2808000" y="1799280"/>
            <a:ext cx="2699280" cy="360000"/>
            <a:chOff x="2808000" y="1799280"/>
            <a:chExt cx="2699280" cy="360000"/>
          </a:xfrm>
        </p:grpSpPr>
        <p:sp>
          <p:nvSpPr>
            <p:cNvPr id="121" name=""/>
            <p:cNvSpPr/>
            <p:nvPr/>
          </p:nvSpPr>
          <p:spPr>
            <a:xfrm>
              <a:off x="2808000" y="1799280"/>
              <a:ext cx="2699280" cy="3596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22" name=""/>
            <p:cNvSpPr/>
            <p:nvPr/>
          </p:nvSpPr>
          <p:spPr>
            <a:xfrm>
              <a:off x="2878200" y="1799280"/>
              <a:ext cx="586080" cy="3596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45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"/>
            <p:cNvSpPr/>
            <p:nvPr/>
          </p:nvSpPr>
          <p:spPr>
            <a:xfrm>
              <a:off x="3536280" y="1799280"/>
              <a:ext cx="586080" cy="3596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"/>
            <p:cNvSpPr/>
            <p:nvPr/>
          </p:nvSpPr>
          <p:spPr>
            <a:xfrm>
              <a:off x="4193640" y="1799640"/>
              <a:ext cx="586440" cy="3596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"/>
            <p:cNvSpPr/>
            <p:nvPr/>
          </p:nvSpPr>
          <p:spPr>
            <a:xfrm>
              <a:off x="4851360" y="1799640"/>
              <a:ext cx="586080" cy="35964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0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6" name=""/>
          <p:cNvSpPr/>
          <p:nvPr/>
        </p:nvSpPr>
        <p:spPr>
          <a:xfrm>
            <a:off x="2827800" y="1369440"/>
            <a:ext cx="44712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b: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7" name=""/>
          <p:cNvGrpSpPr/>
          <p:nvPr/>
        </p:nvGrpSpPr>
        <p:grpSpPr>
          <a:xfrm>
            <a:off x="3255840" y="2340360"/>
            <a:ext cx="404640" cy="1328040"/>
            <a:chOff x="3255840" y="2340360"/>
            <a:chExt cx="404640" cy="1328040"/>
          </a:xfrm>
        </p:grpSpPr>
        <p:sp>
          <p:nvSpPr>
            <p:cNvPr id="128" name=""/>
            <p:cNvSpPr/>
            <p:nvPr/>
          </p:nvSpPr>
          <p:spPr>
            <a:xfrm>
              <a:off x="3327840" y="3240360"/>
              <a:ext cx="332640" cy="428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750" strike="noStrike" u="none">
                  <a:solidFill>
                    <a:srgbClr val="000000"/>
                  </a:solidFill>
                  <a:effectLst/>
                  <a:uFillTx/>
                  <a:latin typeface="JetBrains Mono"/>
                  <a:ea typeface="JetBrains Mono"/>
                </a:rPr>
                <a:t>q</a:t>
              </a:r>
              <a:endPara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"/>
            <p:cNvSpPr/>
            <p:nvPr/>
          </p:nvSpPr>
          <p:spPr>
            <a:xfrm flipH="1" flipV="1">
              <a:off x="3255840" y="2340360"/>
              <a:ext cx="180000" cy="900000"/>
            </a:xfrm>
            <a:prstGeom prst="line">
              <a:avLst/>
            </a:prstGeom>
            <a:ln w="19080">
              <a:solidFill>
                <a:srgbClr val="3465a4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9360" rIns="99360" tIns="54360" bIns="5436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grpSp>
        <p:nvGrpSpPr>
          <p:cNvPr id="130" name=""/>
          <p:cNvGrpSpPr/>
          <p:nvPr/>
        </p:nvGrpSpPr>
        <p:grpSpPr>
          <a:xfrm>
            <a:off x="2427840" y="2340000"/>
            <a:ext cx="847800" cy="1328400"/>
            <a:chOff x="2427840" y="2340000"/>
            <a:chExt cx="847800" cy="1328400"/>
          </a:xfrm>
        </p:grpSpPr>
        <p:sp>
          <p:nvSpPr>
            <p:cNvPr id="131" name=""/>
            <p:cNvSpPr/>
            <p:nvPr/>
          </p:nvSpPr>
          <p:spPr>
            <a:xfrm>
              <a:off x="2427840" y="3240360"/>
              <a:ext cx="847800" cy="428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750" strike="noStrike" u="none">
                  <a:solidFill>
                    <a:srgbClr val="000000"/>
                  </a:solidFill>
                  <a:effectLst/>
                  <a:uFillTx/>
                  <a:latin typeface="JetBrains Mono"/>
                  <a:ea typeface="JetBrains Mono"/>
                </a:rPr>
                <a:t>p + 1</a:t>
              </a:r>
              <a:endPara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"/>
            <p:cNvSpPr/>
            <p:nvPr/>
          </p:nvSpPr>
          <p:spPr>
            <a:xfrm flipV="1">
              <a:off x="2823840" y="2340000"/>
              <a:ext cx="272160" cy="900360"/>
            </a:xfrm>
            <a:prstGeom prst="line">
              <a:avLst/>
            </a:prstGeom>
            <a:ln w="19080">
              <a:solidFill>
                <a:srgbClr val="3465a4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9360" rIns="99360" tIns="54360" bIns="5436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grpSp>
        <p:nvGrpSpPr>
          <p:cNvPr id="133" name=""/>
          <p:cNvGrpSpPr/>
          <p:nvPr/>
        </p:nvGrpSpPr>
        <p:grpSpPr>
          <a:xfrm>
            <a:off x="-55800" y="2340000"/>
            <a:ext cx="847800" cy="1328400"/>
            <a:chOff x="-55800" y="2340000"/>
            <a:chExt cx="847800" cy="1328400"/>
          </a:xfrm>
        </p:grpSpPr>
        <p:sp>
          <p:nvSpPr>
            <p:cNvPr id="134" name=""/>
            <p:cNvSpPr/>
            <p:nvPr/>
          </p:nvSpPr>
          <p:spPr>
            <a:xfrm>
              <a:off x="-55800" y="3240360"/>
              <a:ext cx="847800" cy="428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750" strike="noStrike" u="none">
                  <a:solidFill>
                    <a:srgbClr val="000000"/>
                  </a:solidFill>
                  <a:effectLst/>
                  <a:uFillTx/>
                  <a:latin typeface="JetBrains Mono"/>
                  <a:ea typeface="JetBrains Mono"/>
                </a:rPr>
                <a:t>q - 1</a:t>
              </a:r>
              <a:endPara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"/>
            <p:cNvSpPr/>
            <p:nvPr/>
          </p:nvSpPr>
          <p:spPr>
            <a:xfrm flipV="1">
              <a:off x="232200" y="2340000"/>
              <a:ext cx="235800" cy="900360"/>
            </a:xfrm>
            <a:prstGeom prst="line">
              <a:avLst/>
            </a:prstGeom>
            <a:ln w="19080">
              <a:solidFill>
                <a:srgbClr val="3465a4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9360" rIns="99360" tIns="54360" bIns="5436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grpSp>
        <p:nvGrpSpPr>
          <p:cNvPr id="136" name=""/>
          <p:cNvGrpSpPr/>
          <p:nvPr/>
        </p:nvGrpSpPr>
        <p:grpSpPr>
          <a:xfrm>
            <a:off x="5128200" y="2340000"/>
            <a:ext cx="847800" cy="1328400"/>
            <a:chOff x="5128200" y="2340000"/>
            <a:chExt cx="847800" cy="1328400"/>
          </a:xfrm>
        </p:grpSpPr>
        <p:sp>
          <p:nvSpPr>
            <p:cNvPr id="137" name=""/>
            <p:cNvSpPr/>
            <p:nvPr/>
          </p:nvSpPr>
          <p:spPr>
            <a:xfrm>
              <a:off x="5128200" y="3240360"/>
              <a:ext cx="847800" cy="428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0" lang="ru-RU" sz="1750" strike="noStrike" u="none">
                  <a:solidFill>
                    <a:srgbClr val="000000"/>
                  </a:solidFill>
                  <a:effectLst/>
                  <a:uFillTx/>
                  <a:latin typeface="JetBrains Mono"/>
                  <a:ea typeface="JetBrains Mono"/>
                </a:rPr>
                <a:t>p + 2</a:t>
              </a:r>
              <a:endPara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"/>
            <p:cNvSpPr/>
            <p:nvPr/>
          </p:nvSpPr>
          <p:spPr>
            <a:xfrm flipV="1">
              <a:off x="5524200" y="2340000"/>
              <a:ext cx="272160" cy="900360"/>
            </a:xfrm>
            <a:prstGeom prst="line">
              <a:avLst/>
            </a:prstGeom>
            <a:ln w="19080">
              <a:solidFill>
                <a:srgbClr val="3465a4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9360" rIns="99360" tIns="54360" bIns="54360" anchor="ctr">
              <a:noAutofit/>
            </a:bodyPr>
            <a:p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39" name=""/>
          <p:cNvSpPr/>
          <p:nvPr/>
        </p:nvSpPr>
        <p:spPr>
          <a:xfrm>
            <a:off x="1980000" y="4001400"/>
            <a:ext cx="1979280" cy="10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 - p == 1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p[1]  == *(p + 1)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q[-1] == *(q - 1)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504000" y="73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Примеры. Исследование стека вызовов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620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Порядок расположения переменных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Расположение разрядов переменной в памяти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365040" y="1248840"/>
            <a:ext cx="3519000" cy="31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45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'5'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&amp;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*)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-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Ссылки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6200" cy="389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Ссылка — псевдоним для переменной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Ссылка не хранится в памяти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Ссылка должна быть инициализирована при создании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Ссылку нельзя сослать на другую переменную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Любое действие над ссылкой аналогично действию над соответствующей переменной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Нельзя создать ссылку на ссылку и массив ссылок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288000" y="1801440"/>
            <a:ext cx="4139280" cy="7192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6" name=""/>
          <p:cNvSpPr/>
          <p:nvPr/>
        </p:nvSpPr>
        <p:spPr>
          <a:xfrm>
            <a:off x="396000" y="1801440"/>
            <a:ext cx="899280" cy="71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44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1404360" y="1801800"/>
            <a:ext cx="899280" cy="71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256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2412720" y="1802160"/>
            <a:ext cx="899280" cy="71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0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3421080" y="1802520"/>
            <a:ext cx="899280" cy="719280"/>
          </a:xfrm>
          <a:prstGeom prst="roundRect">
            <a:avLst>
              <a:gd name="adj" fmla="val 16667"/>
            </a:avLst>
          </a:prstGeom>
          <a:solidFill>
            <a:srgbClr val="3465a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0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180000" y="2700000"/>
            <a:ext cx="4679280" cy="222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300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ref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ref2;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ошибка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ref3[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ошибка</a:t>
            </a:r>
            <a:br>
              <a:rPr sz="1750"/>
            </a:b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ref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аналогично операции a = b;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326520" y="1390680"/>
            <a:ext cx="129276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a, ref: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ubTitle"/>
          </p:nvPr>
        </p:nvSpPr>
        <p:spPr>
          <a:xfrm>
            <a:off x="504000" y="225360"/>
            <a:ext cx="9070920" cy="438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Массивы и контейнеры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Статические массивы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6200" cy="389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Массив — множество объектов одного типа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Размер статического массива всегда известен на этапе компиляции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Элементы располагаются друг за другом без «отступов»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Имя массива приводится компилятором к указателю на 1-й элемент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Размер массива можно узнать только в байтах через sizeof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360000" y="1296000"/>
            <a:ext cx="4696560" cy="38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не инициализирован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= {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длина массива угадывается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{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элементы, значения 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которых не указаны явно,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инициализируются нулями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a[1] = 8;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/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выводим размер «c»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более современный метод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92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Статические массивы.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Передача в функцию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5152680" y="1470600"/>
            <a:ext cx="4426200" cy="389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Есть 4 основных способа: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Передать «напрямую» сам объект массива. При этом не происходит копирования, а размерность игнорируется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Передать указатель на начало и размер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Передать указатель на начало и указатель на элемент, следующий за концом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Передать сслыку, при этом размерность не игнорируется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48600" y="1540800"/>
            <a:ext cx="4939200" cy="280476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Не копируется, размерность игнорируется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[]);</a:t>
            </a:r>
            <a:br>
              <a:rPr sz="1450"/>
            </a:b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По указателю на первый элемент и размеру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size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450"/>
            </a:b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По указателю на первый элемент</a:t>
            </a: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и указателю на элемент,</a:t>
            </a: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следующий за последним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450"/>
            </a:b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По ссылке: размерность не игнорируется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(&amp;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)[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]);</a:t>
            </a:r>
            <a:endParaRPr b="0" lang="ru-RU" sz="1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Конетейнер array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5152680" y="1290600"/>
            <a:ext cx="4426200" cy="425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array — шаблон класса, обёртывающий работу над статическим массивом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Самые популярные методы: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front() и back() — первый и последний элемент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size() - кол-во элементов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at() - обращение по индексу с проверкой выхода за границы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data() - указатель на первый элемент статического массива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begin() и end() - итераторы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540000" y="1620000"/>
            <a:ext cx="4611960" cy="323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#include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&lt;array&gt;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/*...*/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array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{}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инициализируется нулями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UB, OK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ошибка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front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==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data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0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Динамическая память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6200" cy="407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Механизм «Куча» позволяет выделять дополнительную память во время работы программы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Размер выделяемой памяти не должен быть известен во время компиляции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Время жизни переменных в куче — период с вызова new до вызова delete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Потеря всех указателей на объект в куче — утечка памяти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360000" y="1248840"/>
            <a:ext cx="4584960" cy="43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объект в куче не инициализирован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инициализируем объект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освобождаем память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nullptr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обнуляем указатель</a:t>
            </a:r>
            <a:br>
              <a:rPr sz="1750"/>
            </a:b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double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9.7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объект в куче инициализирован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значением 9.7 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9.7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освобождаем память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nullptr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обнуляем указатель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Динамические массивы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6200" cy="389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Расположены в куче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Их размер может быть неизвестен на этапе компиляции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По-умолчанию элементы массива ничем не инициализируются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 хранят информации о кол-ве элементов, нам необходимо хранить её отдельно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1260000"/>
            <a:ext cx="4453920" cy="41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q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{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массив инициализирован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массив не инициализирован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сохраняем размер массива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++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// инициализируем массив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освобождаем память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Контейнер vector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680000" y="1080000"/>
            <a:ext cx="5219280" cy="44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vector — шаблон класса, обёртывающий работу над динамическим массивом. Вызывает new в конструкторе и delete в деструкторе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Самые популярные методы: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front(), back(), at(index), size(), begin(), end(), data() - аналогичны методам «array»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push_back(val), pop_back() - добавляют/удаляют конечный элемент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insert(iter, val), erase(iter) — вставляет элемент со сдвигом вправо и удаляет со сдвигом влево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360000" y="1152000"/>
            <a:ext cx="3599280" cy="41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#include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&lt;vector&gt;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/*...*/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vector&lt;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&gt;</a:t>
            </a:r>
            <a:r>
              <a:rPr b="0" lang="ru-RU" sz="17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insert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begin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7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 == {1, 7, 2, 4}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push_back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 == {1, 7, 2, 4, 5}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erase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begin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 == {1, 7, 4, 5}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pop_back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 == {1, 7, 4}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Контейнер vector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5332680" y="1260000"/>
            <a:ext cx="4746600" cy="425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Конструкторы: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vector(n) — вектор из n неинициализированных элементов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vector(n, val) — вектор из n элементов, равных val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vector(iter1, iter2) — вектор, состоящий из элементов другого контейнера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assign(n, val), assign(iter1, iter2) — «переинициализация» существующего вектора.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resize(n) — изменение размера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5400" y="1449720"/>
            <a:ext cx="501732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array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ar1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ar2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ar2 == {?, ?, ?}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ar3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'9'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ar3 == {'9', '9', '9'}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begin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(),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end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ar4 == {1, 2, 3}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assign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'9'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ar3 == {'9', '9', '9'}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Контейнер vector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620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Методы управления буфером в vector: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capacity() — возвращает текущий размер буфера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reserve(n) — если текущий размер буфера меньше n, расширяет буфер до n, сохраняя элементы массива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shrink_to_fit() — подгоняет размер буфера под размер его активной части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/>
          <p:nvPr/>
        </p:nvSpPr>
        <p:spPr>
          <a:xfrm>
            <a:off x="360000" y="1440000"/>
            <a:ext cx="4427280" cy="31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capacity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5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push_back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ar == {0, 0, 0, 0, 0, 1}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capacity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10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reserve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capacity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15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shrink_to_fit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capacity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5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504000" y="73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Многомерные статические массивы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6200" cy="425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Если инициализируются во время определения, то внешняя размерность угадывается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a[i] — возвращает i-ю строчку (тип возвращаемого значения — массив)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многомерного массива sizeof возвращает суммарный размер всех строк в байтах, а std::size — длину внешней размерности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 приводится к int** =&gt; сложно передать в функцию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1332000"/>
            <a:ext cx="5253480" cy="345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},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7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},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typeid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name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A5_i == int [5] (c++filt -t A5_i)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 /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5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/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15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3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504000" y="73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Многомерные статические массивы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1" name=""/>
          <p:cNvGrpSpPr/>
          <p:nvPr/>
        </p:nvGrpSpPr>
        <p:grpSpPr>
          <a:xfrm>
            <a:off x="8676000" y="1324440"/>
            <a:ext cx="1079280" cy="3959280"/>
            <a:chOff x="8676000" y="1324440"/>
            <a:chExt cx="1079280" cy="3959280"/>
          </a:xfrm>
        </p:grpSpPr>
        <p:sp>
          <p:nvSpPr>
            <p:cNvPr id="182" name=""/>
            <p:cNvSpPr/>
            <p:nvPr/>
          </p:nvSpPr>
          <p:spPr>
            <a:xfrm>
              <a:off x="8676000" y="1324440"/>
              <a:ext cx="1079280" cy="39592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83" name=""/>
            <p:cNvSpPr/>
            <p:nvPr/>
          </p:nvSpPr>
          <p:spPr>
            <a:xfrm>
              <a:off x="8856000" y="1396440"/>
              <a:ext cx="71820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15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4" name=""/>
            <p:cNvSpPr/>
            <p:nvPr/>
          </p:nvSpPr>
          <p:spPr>
            <a:xfrm>
              <a:off x="8856360" y="2693160"/>
              <a:ext cx="71820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6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5" name=""/>
            <p:cNvSpPr/>
            <p:nvPr/>
          </p:nvSpPr>
          <p:spPr>
            <a:xfrm>
              <a:off x="8856360" y="3125520"/>
              <a:ext cx="71820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5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6" name=""/>
            <p:cNvSpPr/>
            <p:nvPr/>
          </p:nvSpPr>
          <p:spPr>
            <a:xfrm>
              <a:off x="8856720" y="3557880"/>
              <a:ext cx="71820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4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" name=""/>
            <p:cNvSpPr/>
            <p:nvPr/>
          </p:nvSpPr>
          <p:spPr>
            <a:xfrm>
              <a:off x="8856720" y="3990240"/>
              <a:ext cx="71820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" name=""/>
            <p:cNvSpPr/>
            <p:nvPr/>
          </p:nvSpPr>
          <p:spPr>
            <a:xfrm>
              <a:off x="8857080" y="4854960"/>
              <a:ext cx="71820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1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9" name=""/>
            <p:cNvSpPr/>
            <p:nvPr/>
          </p:nvSpPr>
          <p:spPr>
            <a:xfrm>
              <a:off x="8857080" y="4422960"/>
              <a:ext cx="71820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2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" name=""/>
            <p:cNvSpPr/>
            <p:nvPr/>
          </p:nvSpPr>
          <p:spPr>
            <a:xfrm>
              <a:off x="8856360" y="2261160"/>
              <a:ext cx="71820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" name=""/>
            <p:cNvSpPr/>
            <p:nvPr/>
          </p:nvSpPr>
          <p:spPr>
            <a:xfrm>
              <a:off x="8856000" y="1828440"/>
              <a:ext cx="71820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14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2" name=""/>
          <p:cNvSpPr/>
          <p:nvPr/>
        </p:nvSpPr>
        <p:spPr>
          <a:xfrm>
            <a:off x="0" y="1404360"/>
            <a:ext cx="6026760" cy="29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*(*(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+ 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8 (==a[1][2])</a:t>
            </a: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Обходы массива: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 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/ 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 ++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450"/>
            </a:b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][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или ((int*)a)[i]</a:t>
            </a:r>
            <a:endParaRPr b="0" lang="ru-RU" sz="1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row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row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 ++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row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450"/>
            </a:b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col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col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]); ++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col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450"/>
            </a:b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row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][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col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row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450"/>
            </a:b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col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row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450"/>
            </a:b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col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4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 flipV="1">
            <a:off x="7812000" y="5130000"/>
            <a:ext cx="900000" cy="19368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4" name=""/>
          <p:cNvSpPr/>
          <p:nvPr/>
        </p:nvSpPr>
        <p:spPr>
          <a:xfrm flipV="1">
            <a:off x="7812000" y="2990880"/>
            <a:ext cx="900000" cy="19368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5" name=""/>
          <p:cNvSpPr/>
          <p:nvPr/>
        </p:nvSpPr>
        <p:spPr>
          <a:xfrm flipV="1">
            <a:off x="7812000" y="1283760"/>
            <a:ext cx="900000" cy="19368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196" name=""/>
          <p:cNvGrpSpPr/>
          <p:nvPr/>
        </p:nvGrpSpPr>
        <p:grpSpPr>
          <a:xfrm>
            <a:off x="5797440" y="1252440"/>
            <a:ext cx="1941840" cy="4344840"/>
            <a:chOff x="5797440" y="1252440"/>
            <a:chExt cx="1941840" cy="4344840"/>
          </a:xfrm>
        </p:grpSpPr>
        <p:sp>
          <p:nvSpPr>
            <p:cNvPr id="197" name=""/>
            <p:cNvSpPr/>
            <p:nvPr/>
          </p:nvSpPr>
          <p:spPr>
            <a:xfrm>
              <a:off x="6840000" y="1252440"/>
              <a:ext cx="899280" cy="434484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98" name=""/>
            <p:cNvSpPr/>
            <p:nvPr/>
          </p:nvSpPr>
          <p:spPr>
            <a:xfrm>
              <a:off x="6990480" y="1333800"/>
              <a:ext cx="598680" cy="3844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7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a[3]</a:t>
              </a:r>
              <a:endParaRPr b="0" lang="ru-RU" sz="17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9" name=""/>
            <p:cNvSpPr/>
            <p:nvPr/>
          </p:nvSpPr>
          <p:spPr>
            <a:xfrm>
              <a:off x="7021080" y="5174280"/>
              <a:ext cx="598320" cy="3844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7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a[0]</a:t>
              </a:r>
              <a:endParaRPr b="0" lang="ru-RU" sz="17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0" name=""/>
            <p:cNvSpPr/>
            <p:nvPr/>
          </p:nvSpPr>
          <p:spPr>
            <a:xfrm>
              <a:off x="6990840" y="3106800"/>
              <a:ext cx="598320" cy="3844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7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a[1]</a:t>
              </a:r>
              <a:endParaRPr b="0" lang="ru-RU" sz="17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1" name=""/>
            <p:cNvSpPr/>
            <p:nvPr/>
          </p:nvSpPr>
          <p:spPr>
            <a:xfrm>
              <a:off x="5797440" y="5174640"/>
              <a:ext cx="598320" cy="3844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" name=""/>
            <p:cNvSpPr/>
            <p:nvPr/>
          </p:nvSpPr>
          <p:spPr>
            <a:xfrm>
              <a:off x="6991200" y="2459160"/>
              <a:ext cx="598320" cy="3844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7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a[2]</a:t>
              </a:r>
              <a:endParaRPr b="0" lang="ru-RU" sz="17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3" name=""/>
          <p:cNvSpPr/>
          <p:nvPr/>
        </p:nvSpPr>
        <p:spPr>
          <a:xfrm>
            <a:off x="6480000" y="5400000"/>
            <a:ext cx="3600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4" name=""/>
          <p:cNvSpPr/>
          <p:nvPr/>
        </p:nvSpPr>
        <p:spPr>
          <a:xfrm>
            <a:off x="8820000" y="900000"/>
            <a:ext cx="6742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Стек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 flipV="1">
            <a:off x="7812000" y="2472120"/>
            <a:ext cx="900000" cy="19368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92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Многомерные статические массивы. Проблемы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1404360"/>
            <a:ext cx="6026760" cy="29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6"/>
          <p:cNvSpPr txBox="1"/>
          <p:nvPr/>
        </p:nvSpPr>
        <p:spPr>
          <a:xfrm>
            <a:off x="5153040" y="1613880"/>
            <a:ext cx="4426200" cy="396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Нельзя привести к типу int**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Передача в функцию: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Передать объект массива, укзазав все размерности, кроме внешней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Передать по сслыке. Снова необходимо указать размерность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Передать как одномерный массив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77760" y="1720800"/>
            <a:ext cx="4939200" cy="1760760"/>
          </a:xfrm>
          <a:prstGeom prst="rect">
            <a:avLst/>
          </a:prstGeom>
          <a:noFill/>
          <a:ln w="0">
            <a:noFill/>
          </a:ln>
        </p:spPr>
        <p:txBody>
          <a:bodyPr wrap="none" lIns="90000" rIns="90000" tIns="45000" bIns="45000" anchor="t">
            <a:spAutoFit/>
          </a:bodyPr>
          <a:p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Передаём объект массива. Копирования нет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[][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]);</a:t>
            </a:r>
            <a:br>
              <a:rPr sz="1450"/>
            </a:b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По ссылке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(&amp;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)[</a:t>
            </a:r>
            <a:r>
              <a:rPr b="0" lang="ru-RU" sz="14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]);</a:t>
            </a:r>
            <a:br>
              <a:rPr sz="1450"/>
            </a:br>
            <a:br>
              <a:rPr sz="1450"/>
            </a:br>
            <a:r>
              <a:rPr b="0" i="1" lang="ru-RU" sz="14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Передать как одномерный</a:t>
            </a:r>
            <a:br>
              <a:rPr sz="1450"/>
            </a:b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 </a:t>
            </a:r>
            <a:r>
              <a:rPr b="0" lang="ru-RU" sz="14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f1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rows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cols</a:t>
            </a:r>
            <a:r>
              <a:rPr b="0" lang="ru-RU" sz="14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endParaRPr b="0" lang="ru-RU" sz="1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504000" y="73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Многомерные динамические массивы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360720" y="1332720"/>
            <a:ext cx="5218920" cy="29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Создаём тело массива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7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Создаём таблицу индексов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**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index_table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{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Выводим элемент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index_table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8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Очищаем память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index_table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5940000" y="1326960"/>
            <a:ext cx="3639240" cy="425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Надо, чтобы работала инструкция: a[i][j]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Оператор [ ] работает со значением a[i] и возвращает int. Тогда тип a[i] — int*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Аналогично, тип a — int**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Будем хранить сам массив и «таблицу индексов» отдельно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504000" y="73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Многомерные массивы: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array и vector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/>
          <p:nvPr/>
        </p:nvSpPr>
        <p:spPr>
          <a:xfrm>
            <a:off x="469080" y="1441080"/>
            <a:ext cx="5110200" cy="38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array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array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7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array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array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{{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    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7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8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    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7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15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8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6120000" y="1432440"/>
            <a:ext cx="3815280" cy="4074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Многомерность достигается «вкладыванием» контейнера в контейнер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Многомерный array инициализируется «линейно» (без вложенных фигурных скобок) или с двойными вложенными скобками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Многомерный vector инициализируется только с синтаксисом вложенных фигурных скобок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Многомерный vector может содержать вектора разных длин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ubTitle"/>
          </p:nvPr>
        </p:nvSpPr>
        <p:spPr>
          <a:xfrm>
            <a:off x="504000" y="225360"/>
            <a:ext cx="9070920" cy="438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Placement new и выравнивание памяти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504000" y="73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Оператор new с размещением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(Placement new)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2"/>
          <p:cNvSpPr>
            <a:spLocks noGrp="1"/>
          </p:cNvSpPr>
          <p:nvPr>
            <p:ph/>
          </p:nvPr>
        </p:nvSpPr>
        <p:spPr>
          <a:xfrm>
            <a:off x="5152680" y="1800000"/>
            <a:ext cx="4426200" cy="360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Преобразует переданный указатель к указатели на нужный тип + вызывает конструктор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Нужен, если Вы получили выделенную в стиле C память, в которой нужно хранить объект класса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Также можно использовать для создания нового объекта «поверх» текущего, переиспользования памяти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180000" y="1620000"/>
            <a:ext cx="497196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#include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&lt;cstdlib&gt;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Выделяем память в стиле C: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void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malloc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string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));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Размещаем в ней объект std::string: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string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"Hi!"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Выводим получившийся объект: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str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Освобождаем память в стиле C: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free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Выравнивание памяти. Истоки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5040000" y="1172520"/>
            <a:ext cx="4859280" cy="449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Память состоит из множества строк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Процессор за раз может считать только 1 строку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Если переменная будет разбита на 2 строки, то считывание её будет происходить дольше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Выравнивание — расположение переменной целиком в одной строке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В приведённом слева примере переменная «b» выровнена, а переменная «a» — нет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22" name=""/>
          <p:cNvGrpSpPr/>
          <p:nvPr/>
        </p:nvGrpSpPr>
        <p:grpSpPr>
          <a:xfrm>
            <a:off x="324000" y="1656360"/>
            <a:ext cx="4319280" cy="359280"/>
            <a:chOff x="324000" y="1656360"/>
            <a:chExt cx="4319280" cy="359280"/>
          </a:xfrm>
        </p:grpSpPr>
        <p:grpSp>
          <p:nvGrpSpPr>
            <p:cNvPr id="223" name=""/>
            <p:cNvGrpSpPr/>
            <p:nvPr/>
          </p:nvGrpSpPr>
          <p:grpSpPr>
            <a:xfrm>
              <a:off x="324000" y="1656360"/>
              <a:ext cx="2159280" cy="358920"/>
              <a:chOff x="324000" y="1656360"/>
              <a:chExt cx="2159280" cy="358920"/>
            </a:xfrm>
          </p:grpSpPr>
          <p:sp>
            <p:nvSpPr>
              <p:cNvPr id="224" name=""/>
              <p:cNvSpPr/>
              <p:nvPr/>
            </p:nvSpPr>
            <p:spPr>
              <a:xfrm>
                <a:off x="324000" y="1656360"/>
                <a:ext cx="2159280" cy="35856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25" name=""/>
              <p:cNvSpPr/>
              <p:nvPr/>
            </p:nvSpPr>
            <p:spPr>
              <a:xfrm>
                <a:off x="380160" y="165636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6" name=""/>
              <p:cNvSpPr/>
              <p:nvPr/>
            </p:nvSpPr>
            <p:spPr>
              <a:xfrm>
                <a:off x="906840" y="1656360"/>
                <a:ext cx="46836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7" name=""/>
              <p:cNvSpPr/>
              <p:nvPr/>
            </p:nvSpPr>
            <p:spPr>
              <a:xfrm>
                <a:off x="1432080" y="1656720"/>
                <a:ext cx="46944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8" name=""/>
              <p:cNvSpPr/>
              <p:nvPr/>
            </p:nvSpPr>
            <p:spPr>
              <a:xfrm>
                <a:off x="1958760" y="165672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29" name=""/>
            <p:cNvGrpSpPr/>
            <p:nvPr/>
          </p:nvGrpSpPr>
          <p:grpSpPr>
            <a:xfrm>
              <a:off x="324000" y="1656360"/>
              <a:ext cx="2159280" cy="358920"/>
              <a:chOff x="324000" y="1656360"/>
              <a:chExt cx="2159280" cy="358920"/>
            </a:xfrm>
          </p:grpSpPr>
          <p:sp>
            <p:nvSpPr>
              <p:cNvPr id="230" name=""/>
              <p:cNvSpPr/>
              <p:nvPr/>
            </p:nvSpPr>
            <p:spPr>
              <a:xfrm>
                <a:off x="324000" y="1656360"/>
                <a:ext cx="2159280" cy="35856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31" name=""/>
              <p:cNvSpPr/>
              <p:nvPr/>
            </p:nvSpPr>
            <p:spPr>
              <a:xfrm>
                <a:off x="380160" y="165636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2" name=""/>
              <p:cNvSpPr/>
              <p:nvPr/>
            </p:nvSpPr>
            <p:spPr>
              <a:xfrm>
                <a:off x="906840" y="1656360"/>
                <a:ext cx="46836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3" name=""/>
              <p:cNvSpPr/>
              <p:nvPr/>
            </p:nvSpPr>
            <p:spPr>
              <a:xfrm>
                <a:off x="1432080" y="1656720"/>
                <a:ext cx="46944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4" name=""/>
              <p:cNvSpPr/>
              <p:nvPr/>
            </p:nvSpPr>
            <p:spPr>
              <a:xfrm>
                <a:off x="1958760" y="165672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35" name=""/>
            <p:cNvGrpSpPr/>
            <p:nvPr/>
          </p:nvGrpSpPr>
          <p:grpSpPr>
            <a:xfrm>
              <a:off x="324000" y="1656360"/>
              <a:ext cx="2159280" cy="358920"/>
              <a:chOff x="324000" y="1656360"/>
              <a:chExt cx="2159280" cy="358920"/>
            </a:xfrm>
          </p:grpSpPr>
          <p:sp>
            <p:nvSpPr>
              <p:cNvPr id="236" name=""/>
              <p:cNvSpPr/>
              <p:nvPr/>
            </p:nvSpPr>
            <p:spPr>
              <a:xfrm>
                <a:off x="324000" y="1656360"/>
                <a:ext cx="2159280" cy="35856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37" name=""/>
              <p:cNvSpPr/>
              <p:nvPr/>
            </p:nvSpPr>
            <p:spPr>
              <a:xfrm>
                <a:off x="380160" y="165636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1e6a39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1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8" name=""/>
              <p:cNvSpPr/>
              <p:nvPr/>
            </p:nvSpPr>
            <p:spPr>
              <a:xfrm>
                <a:off x="906840" y="1656360"/>
                <a:ext cx="46836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1e6a39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45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9" name=""/>
              <p:cNvSpPr/>
              <p:nvPr/>
            </p:nvSpPr>
            <p:spPr>
              <a:xfrm>
                <a:off x="1432080" y="1656720"/>
                <a:ext cx="46944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1e6a39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10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0" name=""/>
              <p:cNvSpPr/>
              <p:nvPr/>
            </p:nvSpPr>
            <p:spPr>
              <a:xfrm>
                <a:off x="1958760" y="165672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1e6a39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20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41" name=""/>
            <p:cNvGrpSpPr/>
            <p:nvPr/>
          </p:nvGrpSpPr>
          <p:grpSpPr>
            <a:xfrm>
              <a:off x="2484000" y="1656720"/>
              <a:ext cx="2159280" cy="358920"/>
              <a:chOff x="2484000" y="1656720"/>
              <a:chExt cx="2159280" cy="358920"/>
            </a:xfrm>
          </p:grpSpPr>
          <p:sp>
            <p:nvSpPr>
              <p:cNvPr id="242" name=""/>
              <p:cNvSpPr/>
              <p:nvPr/>
            </p:nvSpPr>
            <p:spPr>
              <a:xfrm>
                <a:off x="2484000" y="1656720"/>
                <a:ext cx="2159280" cy="35856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43" name=""/>
              <p:cNvSpPr/>
              <p:nvPr/>
            </p:nvSpPr>
            <p:spPr>
              <a:xfrm>
                <a:off x="2540160" y="165672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4" name=""/>
              <p:cNvSpPr/>
              <p:nvPr/>
            </p:nvSpPr>
            <p:spPr>
              <a:xfrm>
                <a:off x="3066840" y="1656720"/>
                <a:ext cx="46836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5" name=""/>
              <p:cNvSpPr/>
              <p:nvPr/>
            </p:nvSpPr>
            <p:spPr>
              <a:xfrm>
                <a:off x="3592080" y="1657080"/>
                <a:ext cx="46944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800080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7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1</a:t>
                </a:r>
                <a:endParaRPr b="0" lang="ru-RU" sz="17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6" name=""/>
              <p:cNvSpPr/>
              <p:nvPr/>
            </p:nvSpPr>
            <p:spPr>
              <a:xfrm>
                <a:off x="4118760" y="165708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800080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20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247" name=""/>
          <p:cNvGrpSpPr/>
          <p:nvPr/>
        </p:nvGrpSpPr>
        <p:grpSpPr>
          <a:xfrm>
            <a:off x="324000" y="2268720"/>
            <a:ext cx="4319280" cy="359280"/>
            <a:chOff x="324000" y="2268720"/>
            <a:chExt cx="4319280" cy="359280"/>
          </a:xfrm>
        </p:grpSpPr>
        <p:grpSp>
          <p:nvGrpSpPr>
            <p:cNvPr id="248" name=""/>
            <p:cNvGrpSpPr/>
            <p:nvPr/>
          </p:nvGrpSpPr>
          <p:grpSpPr>
            <a:xfrm>
              <a:off x="324000" y="2268720"/>
              <a:ext cx="2159280" cy="358920"/>
              <a:chOff x="324000" y="2268720"/>
              <a:chExt cx="2159280" cy="358920"/>
            </a:xfrm>
          </p:grpSpPr>
          <p:sp>
            <p:nvSpPr>
              <p:cNvPr id="249" name=""/>
              <p:cNvSpPr/>
              <p:nvPr/>
            </p:nvSpPr>
            <p:spPr>
              <a:xfrm>
                <a:off x="324000" y="2268720"/>
                <a:ext cx="2159280" cy="35856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50" name=""/>
              <p:cNvSpPr/>
              <p:nvPr/>
            </p:nvSpPr>
            <p:spPr>
              <a:xfrm>
                <a:off x="380160" y="226872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1" name=""/>
              <p:cNvSpPr/>
              <p:nvPr/>
            </p:nvSpPr>
            <p:spPr>
              <a:xfrm>
                <a:off x="906840" y="2268720"/>
                <a:ext cx="46836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2" name=""/>
              <p:cNvSpPr/>
              <p:nvPr/>
            </p:nvSpPr>
            <p:spPr>
              <a:xfrm>
                <a:off x="1432080" y="2269080"/>
                <a:ext cx="46944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3" name=""/>
              <p:cNvSpPr/>
              <p:nvPr/>
            </p:nvSpPr>
            <p:spPr>
              <a:xfrm>
                <a:off x="1958760" y="226908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54" name=""/>
            <p:cNvGrpSpPr/>
            <p:nvPr/>
          </p:nvGrpSpPr>
          <p:grpSpPr>
            <a:xfrm>
              <a:off x="324000" y="2268720"/>
              <a:ext cx="2159280" cy="358920"/>
              <a:chOff x="324000" y="2268720"/>
              <a:chExt cx="2159280" cy="358920"/>
            </a:xfrm>
          </p:grpSpPr>
          <p:sp>
            <p:nvSpPr>
              <p:cNvPr id="255" name=""/>
              <p:cNvSpPr/>
              <p:nvPr/>
            </p:nvSpPr>
            <p:spPr>
              <a:xfrm>
                <a:off x="324000" y="2268720"/>
                <a:ext cx="2159280" cy="35856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56" name=""/>
              <p:cNvSpPr/>
              <p:nvPr/>
            </p:nvSpPr>
            <p:spPr>
              <a:xfrm>
                <a:off x="380160" y="226872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7" name=""/>
              <p:cNvSpPr/>
              <p:nvPr/>
            </p:nvSpPr>
            <p:spPr>
              <a:xfrm>
                <a:off x="906840" y="2268720"/>
                <a:ext cx="46836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8" name=""/>
              <p:cNvSpPr/>
              <p:nvPr/>
            </p:nvSpPr>
            <p:spPr>
              <a:xfrm>
                <a:off x="1432080" y="2269080"/>
                <a:ext cx="46944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9" name=""/>
              <p:cNvSpPr/>
              <p:nvPr/>
            </p:nvSpPr>
            <p:spPr>
              <a:xfrm>
                <a:off x="1958760" y="226908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60" name=""/>
            <p:cNvGrpSpPr/>
            <p:nvPr/>
          </p:nvGrpSpPr>
          <p:grpSpPr>
            <a:xfrm>
              <a:off x="324000" y="2268720"/>
              <a:ext cx="2159280" cy="358920"/>
              <a:chOff x="324000" y="2268720"/>
              <a:chExt cx="2159280" cy="358920"/>
            </a:xfrm>
          </p:grpSpPr>
          <p:sp>
            <p:nvSpPr>
              <p:cNvPr id="261" name=""/>
              <p:cNvSpPr/>
              <p:nvPr/>
            </p:nvSpPr>
            <p:spPr>
              <a:xfrm>
                <a:off x="324000" y="2268720"/>
                <a:ext cx="2159280" cy="35856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62" name=""/>
              <p:cNvSpPr/>
              <p:nvPr/>
            </p:nvSpPr>
            <p:spPr>
              <a:xfrm>
                <a:off x="380160" y="226872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800080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15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3" name=""/>
              <p:cNvSpPr/>
              <p:nvPr/>
            </p:nvSpPr>
            <p:spPr>
              <a:xfrm>
                <a:off x="906840" y="2268720"/>
                <a:ext cx="46836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800080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59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4" name=""/>
              <p:cNvSpPr/>
              <p:nvPr/>
            </p:nvSpPr>
            <p:spPr>
              <a:xfrm>
                <a:off x="1432080" y="2269080"/>
                <a:ext cx="46944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5" name=""/>
              <p:cNvSpPr/>
              <p:nvPr/>
            </p:nvSpPr>
            <p:spPr>
              <a:xfrm>
                <a:off x="1958760" y="226908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266" name=""/>
            <p:cNvGrpSpPr/>
            <p:nvPr/>
          </p:nvGrpSpPr>
          <p:grpSpPr>
            <a:xfrm>
              <a:off x="2484000" y="2269080"/>
              <a:ext cx="2159280" cy="358920"/>
              <a:chOff x="2484000" y="2269080"/>
              <a:chExt cx="2159280" cy="358920"/>
            </a:xfrm>
          </p:grpSpPr>
          <p:sp>
            <p:nvSpPr>
              <p:cNvPr id="267" name=""/>
              <p:cNvSpPr/>
              <p:nvPr/>
            </p:nvSpPr>
            <p:spPr>
              <a:xfrm>
                <a:off x="2484000" y="2269080"/>
                <a:ext cx="2159280" cy="358560"/>
              </a:xfrm>
              <a:prstGeom prst="rect">
                <a:avLst/>
              </a:prstGeom>
              <a:solidFill>
                <a:srgbClr val="729fcf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ru-RU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  <p:sp>
            <p:nvSpPr>
              <p:cNvPr id="268" name=""/>
              <p:cNvSpPr/>
              <p:nvPr/>
            </p:nvSpPr>
            <p:spPr>
              <a:xfrm>
                <a:off x="2540160" y="226908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9" name=""/>
              <p:cNvSpPr/>
              <p:nvPr/>
            </p:nvSpPr>
            <p:spPr>
              <a:xfrm>
                <a:off x="3066840" y="2269080"/>
                <a:ext cx="46836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0" name=""/>
              <p:cNvSpPr/>
              <p:nvPr/>
            </p:nvSpPr>
            <p:spPr>
              <a:xfrm>
                <a:off x="3592080" y="2269440"/>
                <a:ext cx="46944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1" name=""/>
              <p:cNvSpPr/>
              <p:nvPr/>
            </p:nvSpPr>
            <p:spPr>
              <a:xfrm>
                <a:off x="4118760" y="2269440"/>
                <a:ext cx="468720" cy="358560"/>
              </a:xfrm>
              <a:prstGeom prst="roundRect">
                <a:avLst>
                  <a:gd name="adj" fmla="val 16667"/>
                </a:avLst>
              </a:prstGeom>
              <a:solidFill>
                <a:srgbClr val="3465a4"/>
              </a:solidFill>
              <a:ln w="0">
                <a:solidFill>
                  <a:srgbClr val="3465a4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>
                  <a:lnSpc>
                    <a:spcPct val="100000"/>
                  </a:lnSpc>
                </a:pPr>
                <a:r>
                  <a:rPr b="0" lang="ru-RU" sz="1800" strike="noStrike" u="none">
                    <a:solidFill>
                      <a:srgbClr val="ffffff"/>
                    </a:solidFill>
                    <a:effectLst/>
                    <a:uFillTx/>
                    <a:latin typeface="Arial"/>
                    <a:ea typeface="DejaVu Sans"/>
                  </a:rPr>
                  <a:t>?</a:t>
                </a:r>
                <a:endPara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72" name=""/>
          <p:cNvSpPr/>
          <p:nvPr/>
        </p:nvSpPr>
        <p:spPr>
          <a:xfrm>
            <a:off x="1980000" y="1172520"/>
            <a:ext cx="97632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Память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1328760" y="4251240"/>
            <a:ext cx="2863080" cy="76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9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9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990843905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950"/>
            </a:br>
            <a:r>
              <a:rPr b="0" lang="ru-RU" sz="19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9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9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336211201</a:t>
            </a:r>
            <a:r>
              <a:rPr b="0" lang="ru-RU" sz="19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"/>
          <p:cNvSpPr/>
          <p:nvPr/>
        </p:nvSpPr>
        <p:spPr>
          <a:xfrm>
            <a:off x="1368000" y="2857680"/>
            <a:ext cx="291528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—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байт переменной «a»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856440" y="2845440"/>
            <a:ext cx="469440" cy="358560"/>
          </a:xfrm>
          <a:prstGeom prst="roundRect">
            <a:avLst>
              <a:gd name="adj" fmla="val 16667"/>
            </a:avLst>
          </a:prstGeom>
          <a:solidFill>
            <a:srgbClr val="800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?</a:t>
            </a:r>
            <a:endParaRPr b="0" lang="ru-RU" sz="17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1368000" y="3361680"/>
            <a:ext cx="291528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—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байт переменной «b»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>
            <a:off x="856440" y="3349440"/>
            <a:ext cx="469440" cy="358560"/>
          </a:xfrm>
          <a:prstGeom prst="roundRect">
            <a:avLst>
              <a:gd name="adj" fmla="val 16667"/>
            </a:avLst>
          </a:prstGeom>
          <a:solidFill>
            <a:srgbClr val="1e6a3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ru-RU" sz="1700" strike="noStrike" u="non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?</a:t>
            </a:r>
            <a:endParaRPr b="0" lang="ru-RU" sz="17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04000" y="73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Выравнивание памяти. Конкретика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/>
          </p:nvPr>
        </p:nvSpPr>
        <p:spPr>
          <a:xfrm>
            <a:off x="5152680" y="1614600"/>
            <a:ext cx="442620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Выравнивание переменной в C — расположение её первого байта в ячейке с номером, кратным некоторой степени 2-ки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Все типы выравниваются по-умолчанию по своему размеру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alignof() — возвращает выравнивание (степень 2-ки)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alignas(2**n) — задаёт выравнивание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540000" y="1620000"/>
            <a:ext cx="430920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4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alignas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89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8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alignas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</a:t>
            </a:r>
            <a:r>
              <a:rPr b="0" lang="ru-RU" sz="1550" strike="noStrike" u="none">
                <a:solidFill>
                  <a:srgbClr val="80808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16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Выравнивание структур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5040000" y="1260000"/>
            <a:ext cx="4859280" cy="43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Структуры выравниваются по-умолчанию по самому требовательному полю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Однако поля структур выравниваются по-особому: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Память под них выделяется блоками, размер каждого = выравнивание самого требовательного поля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Внутри блока поля выравниваются, как обычно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Поэтому размер структуры ≠ суммарный размер полей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Всё это позволяет хранить экземпляры структур в массивах, друг за другом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"/>
          <p:cNvSpPr/>
          <p:nvPr/>
        </p:nvSpPr>
        <p:spPr>
          <a:xfrm>
            <a:off x="324000" y="1260000"/>
            <a:ext cx="4898880" cy="31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n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12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alignof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4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84" name=""/>
          <p:cNvGrpSpPr/>
          <p:nvPr/>
        </p:nvGrpSpPr>
        <p:grpSpPr>
          <a:xfrm>
            <a:off x="360000" y="4824360"/>
            <a:ext cx="2159280" cy="358920"/>
            <a:chOff x="360000" y="4824360"/>
            <a:chExt cx="2159280" cy="358920"/>
          </a:xfrm>
        </p:grpSpPr>
        <p:sp>
          <p:nvSpPr>
            <p:cNvPr id="285" name=""/>
            <p:cNvSpPr/>
            <p:nvPr/>
          </p:nvSpPr>
          <p:spPr>
            <a:xfrm>
              <a:off x="360000" y="4824360"/>
              <a:ext cx="2159280" cy="3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86" name=""/>
            <p:cNvSpPr/>
            <p:nvPr/>
          </p:nvSpPr>
          <p:spPr>
            <a:xfrm>
              <a:off x="416160" y="482436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5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l1</a:t>
              </a:r>
              <a:endParaRPr b="0" lang="ru-RU" sz="15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7" name=""/>
            <p:cNvSpPr/>
            <p:nvPr/>
          </p:nvSpPr>
          <p:spPr>
            <a:xfrm>
              <a:off x="942840" y="4824360"/>
              <a:ext cx="4683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8" name=""/>
            <p:cNvSpPr/>
            <p:nvPr/>
          </p:nvSpPr>
          <p:spPr>
            <a:xfrm>
              <a:off x="1468080" y="4824720"/>
              <a:ext cx="4694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9" name=""/>
            <p:cNvSpPr/>
            <p:nvPr/>
          </p:nvSpPr>
          <p:spPr>
            <a:xfrm>
              <a:off x="1994760" y="482472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90" name=""/>
          <p:cNvGrpSpPr/>
          <p:nvPr/>
        </p:nvGrpSpPr>
        <p:grpSpPr>
          <a:xfrm>
            <a:off x="2520000" y="4824720"/>
            <a:ext cx="2159280" cy="358920"/>
            <a:chOff x="2520000" y="4824720"/>
            <a:chExt cx="2159280" cy="358920"/>
          </a:xfrm>
        </p:grpSpPr>
        <p:sp>
          <p:nvSpPr>
            <p:cNvPr id="291" name=""/>
            <p:cNvSpPr/>
            <p:nvPr/>
          </p:nvSpPr>
          <p:spPr>
            <a:xfrm>
              <a:off x="2520000" y="4824720"/>
              <a:ext cx="2159280" cy="3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92" name=""/>
            <p:cNvSpPr/>
            <p:nvPr/>
          </p:nvSpPr>
          <p:spPr>
            <a:xfrm>
              <a:off x="2576160" y="482472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3" name=""/>
            <p:cNvSpPr/>
            <p:nvPr/>
          </p:nvSpPr>
          <p:spPr>
            <a:xfrm>
              <a:off x="3102840" y="4824720"/>
              <a:ext cx="4683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4" name=""/>
            <p:cNvSpPr/>
            <p:nvPr/>
          </p:nvSpPr>
          <p:spPr>
            <a:xfrm>
              <a:off x="3628080" y="4825080"/>
              <a:ext cx="4694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5" name=""/>
            <p:cNvSpPr/>
            <p:nvPr/>
          </p:nvSpPr>
          <p:spPr>
            <a:xfrm>
              <a:off x="4154760" y="482508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96" name=""/>
          <p:cNvGrpSpPr/>
          <p:nvPr/>
        </p:nvGrpSpPr>
        <p:grpSpPr>
          <a:xfrm>
            <a:off x="1440000" y="5257080"/>
            <a:ext cx="2159280" cy="358920"/>
            <a:chOff x="1440000" y="5257080"/>
            <a:chExt cx="2159280" cy="358920"/>
          </a:xfrm>
        </p:grpSpPr>
        <p:sp>
          <p:nvSpPr>
            <p:cNvPr id="297" name=""/>
            <p:cNvSpPr/>
            <p:nvPr/>
          </p:nvSpPr>
          <p:spPr>
            <a:xfrm>
              <a:off x="1440000" y="5257080"/>
              <a:ext cx="2159280" cy="3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298" name=""/>
            <p:cNvSpPr/>
            <p:nvPr/>
          </p:nvSpPr>
          <p:spPr>
            <a:xfrm>
              <a:off x="1496160" y="525708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l2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9" name=""/>
            <p:cNvSpPr/>
            <p:nvPr/>
          </p:nvSpPr>
          <p:spPr>
            <a:xfrm>
              <a:off x="2022840" y="5257080"/>
              <a:ext cx="4683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0" name=""/>
            <p:cNvSpPr/>
            <p:nvPr/>
          </p:nvSpPr>
          <p:spPr>
            <a:xfrm>
              <a:off x="2548080" y="5257440"/>
              <a:ext cx="4694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1" name=""/>
            <p:cNvSpPr/>
            <p:nvPr/>
          </p:nvSpPr>
          <p:spPr>
            <a:xfrm>
              <a:off x="3074760" y="525744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02" name=""/>
          <p:cNvSpPr/>
          <p:nvPr/>
        </p:nvSpPr>
        <p:spPr>
          <a:xfrm>
            <a:off x="1692000" y="4392000"/>
            <a:ext cx="172728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CarNumber:</a:t>
            </a:r>
            <a:endParaRPr b="0" lang="ru-RU" sz="1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504000" y="73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Изменение выравнивания структур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252000" y="1872000"/>
            <a:ext cx="5016960" cy="21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alignas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alignas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n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16</a:t>
            </a:r>
            <a:br>
              <a:rPr sz="1550"/>
            </a:b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alignof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16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1512000" y="1584000"/>
            <a:ext cx="17632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Через </a:t>
            </a:r>
            <a:r>
              <a:rPr b="0" lang="ru-RU" sz="1800" strike="noStrike" u="none">
                <a:solidFill>
                  <a:srgbClr val="0033b3"/>
                </a:solidFill>
                <a:effectLst/>
                <a:uFillTx/>
                <a:latin typeface="Arial"/>
                <a:ea typeface="DejaVu Sans"/>
              </a:rPr>
              <a:t>alignas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06" name=""/>
          <p:cNvGrpSpPr/>
          <p:nvPr/>
        </p:nvGrpSpPr>
        <p:grpSpPr>
          <a:xfrm>
            <a:off x="360000" y="4824720"/>
            <a:ext cx="2159280" cy="358920"/>
            <a:chOff x="360000" y="4824720"/>
            <a:chExt cx="2159280" cy="358920"/>
          </a:xfrm>
        </p:grpSpPr>
        <p:sp>
          <p:nvSpPr>
            <p:cNvPr id="307" name=""/>
            <p:cNvSpPr/>
            <p:nvPr/>
          </p:nvSpPr>
          <p:spPr>
            <a:xfrm>
              <a:off x="360000" y="4824720"/>
              <a:ext cx="2159280" cy="3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08" name=""/>
            <p:cNvSpPr/>
            <p:nvPr/>
          </p:nvSpPr>
          <p:spPr>
            <a:xfrm>
              <a:off x="416160" y="482472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5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l1</a:t>
              </a:r>
              <a:endParaRPr b="0" lang="ru-RU" sz="15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9" name=""/>
            <p:cNvSpPr/>
            <p:nvPr/>
          </p:nvSpPr>
          <p:spPr>
            <a:xfrm>
              <a:off x="942840" y="4824720"/>
              <a:ext cx="4683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0" name=""/>
            <p:cNvSpPr/>
            <p:nvPr/>
          </p:nvSpPr>
          <p:spPr>
            <a:xfrm>
              <a:off x="1468080" y="4825080"/>
              <a:ext cx="4694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1" name=""/>
            <p:cNvSpPr/>
            <p:nvPr/>
          </p:nvSpPr>
          <p:spPr>
            <a:xfrm>
              <a:off x="1994760" y="482508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12" name=""/>
          <p:cNvGrpSpPr/>
          <p:nvPr/>
        </p:nvGrpSpPr>
        <p:grpSpPr>
          <a:xfrm>
            <a:off x="2520000" y="4825080"/>
            <a:ext cx="2159280" cy="358920"/>
            <a:chOff x="2520000" y="4825080"/>
            <a:chExt cx="2159280" cy="358920"/>
          </a:xfrm>
        </p:grpSpPr>
        <p:sp>
          <p:nvSpPr>
            <p:cNvPr id="313" name=""/>
            <p:cNvSpPr/>
            <p:nvPr/>
          </p:nvSpPr>
          <p:spPr>
            <a:xfrm>
              <a:off x="2520000" y="4825080"/>
              <a:ext cx="2159280" cy="3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14" name=""/>
            <p:cNvSpPr/>
            <p:nvPr/>
          </p:nvSpPr>
          <p:spPr>
            <a:xfrm>
              <a:off x="2576160" y="482508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5" name=""/>
            <p:cNvSpPr/>
            <p:nvPr/>
          </p:nvSpPr>
          <p:spPr>
            <a:xfrm>
              <a:off x="3102840" y="4825080"/>
              <a:ext cx="4683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6" name=""/>
            <p:cNvSpPr/>
            <p:nvPr/>
          </p:nvSpPr>
          <p:spPr>
            <a:xfrm>
              <a:off x="3628080" y="4825440"/>
              <a:ext cx="4694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7" name=""/>
            <p:cNvSpPr/>
            <p:nvPr/>
          </p:nvSpPr>
          <p:spPr>
            <a:xfrm>
              <a:off x="4154760" y="482544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18" name=""/>
          <p:cNvGrpSpPr/>
          <p:nvPr/>
        </p:nvGrpSpPr>
        <p:grpSpPr>
          <a:xfrm>
            <a:off x="360000" y="5257440"/>
            <a:ext cx="2159280" cy="358920"/>
            <a:chOff x="360000" y="5257440"/>
            <a:chExt cx="2159280" cy="358920"/>
          </a:xfrm>
        </p:grpSpPr>
        <p:sp>
          <p:nvSpPr>
            <p:cNvPr id="319" name=""/>
            <p:cNvSpPr/>
            <p:nvPr/>
          </p:nvSpPr>
          <p:spPr>
            <a:xfrm>
              <a:off x="360000" y="5257440"/>
              <a:ext cx="2159280" cy="3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20" name=""/>
            <p:cNvSpPr/>
            <p:nvPr/>
          </p:nvSpPr>
          <p:spPr>
            <a:xfrm>
              <a:off x="416160" y="525744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1" name=""/>
            <p:cNvSpPr/>
            <p:nvPr/>
          </p:nvSpPr>
          <p:spPr>
            <a:xfrm>
              <a:off x="942840" y="5257440"/>
              <a:ext cx="4683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2" name=""/>
            <p:cNvSpPr/>
            <p:nvPr/>
          </p:nvSpPr>
          <p:spPr>
            <a:xfrm>
              <a:off x="1468080" y="5257800"/>
              <a:ext cx="4694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3" name=""/>
            <p:cNvSpPr/>
            <p:nvPr/>
          </p:nvSpPr>
          <p:spPr>
            <a:xfrm>
              <a:off x="1994760" y="525780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24" name=""/>
          <p:cNvSpPr/>
          <p:nvPr/>
        </p:nvSpPr>
        <p:spPr>
          <a:xfrm>
            <a:off x="1692000" y="4464360"/>
            <a:ext cx="172728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CarNumber:</a:t>
            </a:r>
            <a:endParaRPr b="0" lang="ru-RU" sz="1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25" name=""/>
          <p:cNvGrpSpPr/>
          <p:nvPr/>
        </p:nvGrpSpPr>
        <p:grpSpPr>
          <a:xfrm>
            <a:off x="2520000" y="5257800"/>
            <a:ext cx="2159280" cy="358920"/>
            <a:chOff x="2520000" y="5257800"/>
            <a:chExt cx="2159280" cy="358920"/>
          </a:xfrm>
        </p:grpSpPr>
        <p:sp>
          <p:nvSpPr>
            <p:cNvPr id="326" name=""/>
            <p:cNvSpPr/>
            <p:nvPr/>
          </p:nvSpPr>
          <p:spPr>
            <a:xfrm>
              <a:off x="2520000" y="5257800"/>
              <a:ext cx="2159280" cy="3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27" name=""/>
            <p:cNvSpPr/>
            <p:nvPr/>
          </p:nvSpPr>
          <p:spPr>
            <a:xfrm>
              <a:off x="2576160" y="525780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l2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8" name=""/>
            <p:cNvSpPr/>
            <p:nvPr/>
          </p:nvSpPr>
          <p:spPr>
            <a:xfrm>
              <a:off x="3102840" y="5257800"/>
              <a:ext cx="4683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9" name=""/>
            <p:cNvSpPr/>
            <p:nvPr/>
          </p:nvSpPr>
          <p:spPr>
            <a:xfrm>
              <a:off x="3628080" y="5258160"/>
              <a:ext cx="4694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0" name=""/>
            <p:cNvSpPr/>
            <p:nvPr/>
          </p:nvSpPr>
          <p:spPr>
            <a:xfrm>
              <a:off x="4154760" y="525816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?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1" name=""/>
          <p:cNvSpPr/>
          <p:nvPr/>
        </p:nvSpPr>
        <p:spPr>
          <a:xfrm>
            <a:off x="5256000" y="1800360"/>
            <a:ext cx="4898880" cy="25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#pragma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pack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(push,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number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l2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,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 l3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550"/>
            </a:br>
            <a:r>
              <a:rPr b="0" lang="ru-RU" sz="15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#pragma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pack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(pop)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sizeof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7</a:t>
            </a:r>
            <a:br>
              <a:rPr sz="1550"/>
            </a:b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alignof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i="1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i="1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i="1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i="1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"/>
          <p:cNvSpPr/>
          <p:nvPr/>
        </p:nvSpPr>
        <p:spPr>
          <a:xfrm>
            <a:off x="6624000" y="1512360"/>
            <a:ext cx="17632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Через </a:t>
            </a:r>
            <a:r>
              <a:rPr b="0" lang="ru-RU" sz="1800" strike="noStrike" u="none">
                <a:solidFill>
                  <a:srgbClr val="0033b3"/>
                </a:solidFill>
                <a:effectLst/>
                <a:uFillTx/>
                <a:latin typeface="Arial"/>
                <a:ea typeface="DejaVu Sans"/>
              </a:rPr>
              <a:t>pack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33" name=""/>
          <p:cNvGrpSpPr/>
          <p:nvPr/>
        </p:nvGrpSpPr>
        <p:grpSpPr>
          <a:xfrm>
            <a:off x="7616160" y="5257440"/>
            <a:ext cx="1707120" cy="358920"/>
            <a:chOff x="7616160" y="5257440"/>
            <a:chExt cx="1707120" cy="358920"/>
          </a:xfrm>
        </p:grpSpPr>
        <p:sp>
          <p:nvSpPr>
            <p:cNvPr id="334" name=""/>
            <p:cNvSpPr/>
            <p:nvPr/>
          </p:nvSpPr>
          <p:spPr>
            <a:xfrm>
              <a:off x="7616160" y="5257440"/>
              <a:ext cx="1707120" cy="3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35" name=""/>
            <p:cNvSpPr/>
            <p:nvPr/>
          </p:nvSpPr>
          <p:spPr>
            <a:xfrm>
              <a:off x="8264160" y="525744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l2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6" name=""/>
            <p:cNvSpPr/>
            <p:nvPr/>
          </p:nvSpPr>
          <p:spPr>
            <a:xfrm>
              <a:off x="8790840" y="5257440"/>
              <a:ext cx="4683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7" name=""/>
            <p:cNvSpPr/>
            <p:nvPr/>
          </p:nvSpPr>
          <p:spPr>
            <a:xfrm>
              <a:off x="7724520" y="525780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8" name=""/>
          <p:cNvSpPr/>
          <p:nvPr/>
        </p:nvSpPr>
        <p:spPr>
          <a:xfrm>
            <a:off x="6660000" y="4896720"/>
            <a:ext cx="172728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9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CarNumber:</a:t>
            </a:r>
            <a:endParaRPr b="0" lang="ru-RU" sz="1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39" name=""/>
          <p:cNvGrpSpPr/>
          <p:nvPr/>
        </p:nvGrpSpPr>
        <p:grpSpPr>
          <a:xfrm>
            <a:off x="5544000" y="5257080"/>
            <a:ext cx="2159280" cy="358920"/>
            <a:chOff x="5544000" y="5257080"/>
            <a:chExt cx="2159280" cy="358920"/>
          </a:xfrm>
        </p:grpSpPr>
        <p:sp>
          <p:nvSpPr>
            <p:cNvPr id="340" name=""/>
            <p:cNvSpPr/>
            <p:nvPr/>
          </p:nvSpPr>
          <p:spPr>
            <a:xfrm>
              <a:off x="5544000" y="5257080"/>
              <a:ext cx="2159280" cy="3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41" name=""/>
            <p:cNvSpPr/>
            <p:nvPr/>
          </p:nvSpPr>
          <p:spPr>
            <a:xfrm>
              <a:off x="5600160" y="525708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5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l1</a:t>
              </a:r>
              <a:endParaRPr b="0" lang="ru-RU" sz="15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2" name=""/>
            <p:cNvSpPr/>
            <p:nvPr/>
          </p:nvSpPr>
          <p:spPr>
            <a:xfrm>
              <a:off x="6126840" y="5257080"/>
              <a:ext cx="4683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3" name=""/>
            <p:cNvSpPr/>
            <p:nvPr/>
          </p:nvSpPr>
          <p:spPr>
            <a:xfrm>
              <a:off x="6652080" y="5257440"/>
              <a:ext cx="4694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4" name=""/>
            <p:cNvSpPr/>
            <p:nvPr/>
          </p:nvSpPr>
          <p:spPr>
            <a:xfrm>
              <a:off x="7178760" y="525744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n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ubTitle"/>
          </p:nvPr>
        </p:nvSpPr>
        <p:spPr>
          <a:xfrm>
            <a:off x="504000" y="225360"/>
            <a:ext cx="9070920" cy="438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Конструктор копирования и оператор присваивания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Классы. Пишем свой vector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6345360" y="1218600"/>
            <a:ext cx="3553920" cy="4378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Начнём писать аналог vector&lt;int&gt;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Агрегатный тип: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Массив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Класс, где нет: 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Пользовательского конструктора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Базового класса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Не-public членов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Виртуальных методов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агрегатных типов работает инициализация = {...}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0" y="1260000"/>
            <a:ext cx="6432480" cy="41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nullptr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IntVector arr1 = {..., ...};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], 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IntVector arr2 = {.data_ = ..., .size_ = ...};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Классы. Добавляем деструктор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2"/>
          <p:cNvSpPr>
            <a:spLocks noGrp="1"/>
          </p:cNvSpPr>
          <p:nvPr>
            <p:ph/>
          </p:nvPr>
        </p:nvSpPr>
        <p:spPr>
          <a:xfrm>
            <a:off x="6516000" y="1326600"/>
            <a:ext cx="32788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Агрегатная инициализация всё ещё работает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"/>
          <p:cNvSpPr/>
          <p:nvPr/>
        </p:nvSpPr>
        <p:spPr>
          <a:xfrm>
            <a:off x="0" y="1188000"/>
            <a:ext cx="6432480" cy="44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nullptr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~IntVector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IntVector arr1 = {..., ...};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], 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IntVector arr2 = {.data_ = ..., .size_ = ...};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Классы. Добавляем конструктор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/>
          <p:nvPr/>
        </p:nvSpPr>
        <p:spPr>
          <a:xfrm>
            <a:off x="36000" y="1116000"/>
            <a:ext cx="5399280" cy="44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: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]),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++)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  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];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==IntVector arr1(p, 2)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IntVector arr1 = {..., ...};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/>
          </p:nvPr>
        </p:nvSpPr>
        <p:spPr>
          <a:xfrm>
            <a:off x="5760000" y="1326600"/>
            <a:ext cx="40348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Список инициализации {...} теперь вызывает соответствующий конструктор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Конструктор по-умолчанию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360000" y="1296000"/>
            <a:ext cx="5399280" cy="24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{}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OK</a:t>
            </a:r>
            <a:br>
              <a:rPr sz="1550"/>
            </a:b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2"/>
          <p:cNvSpPr>
            <a:spLocks noGrp="1"/>
          </p:cNvSpPr>
          <p:nvPr>
            <p:ph/>
          </p:nvPr>
        </p:nvSpPr>
        <p:spPr>
          <a:xfrm>
            <a:off x="5760000" y="1326600"/>
            <a:ext cx="4034880" cy="407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Теперь при создании объекта IntVector мы всегда обязаны указать 2 аргумента конструктора: p и size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Чтобы можно было не передавать аргументов, определим конструктор без параметров (=конструктор по умолчанию)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Если у класса ни один конструктор не определён явным образом, то компилятор сам создаст конструктор без параметров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Классы. std::initializer_list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>
            <a:off x="360000" y="1116000"/>
            <a:ext cx="5399280" cy="42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initializer_list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: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()]),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elem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   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++] 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elem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5760000" y="1326600"/>
            <a:ext cx="4139280" cy="425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Список инициализации {...} теперь работает, как у массива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Синтаксис {…} всё ещё может вызвать конструктор от 2-х аргументов, если передать ему параметры нужных типов (int*, size_t)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initializer_list — это объект, содержащий указатель на начало массива и его размер. Поэтому его можно передавать по значению, а не по ссылке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Конструктор от одного аргумента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360000" y="1116000"/>
            <a:ext cx="5399280" cy="42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: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]),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==IntVector arr1({10});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arr3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==IntVector arr3(10);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5760000" y="1326600"/>
            <a:ext cx="40348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 этому конструктору не обратиться через {...}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Любой конструктор от одного аргумента может быть вызван неявно, когда используем оператор «=» во время создания переменной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Ключевое слово explicit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"/>
          <p:cNvSpPr/>
          <p:nvPr/>
        </p:nvSpPr>
        <p:spPr>
          <a:xfrm>
            <a:off x="360000" y="1116000"/>
            <a:ext cx="5399280" cy="42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explicit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: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]),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OK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arr3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Ошибка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/>
          </p:nvPr>
        </p:nvSpPr>
        <p:spPr>
          <a:xfrm>
            <a:off x="5760000" y="1326600"/>
            <a:ext cx="403488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Запрещает вызывать конструктор от одного аргумента неявно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Классы. Проблема копирования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360000" y="1116000"/>
            <a:ext cx="5399280" cy="42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10</a:t>
            </a:r>
            <a:br>
              <a:rPr sz="1550"/>
            </a:b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//Ошибка: двойное освобождение памяти!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/>
          </p:nvPr>
        </p:nvSpPr>
        <p:spPr>
          <a:xfrm>
            <a:off x="5760000" y="1254600"/>
            <a:ext cx="4034880" cy="407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Если во время создания переменной присвоить ей значение другой переменной того же типа, то вызовется конструктор копирования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Компилятор сам определяет конструктор копирования для всех классов так, что тот копирует все поля одного класса в соответствующие поля другого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Мы можем переопределить его поведение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Классы. Проблема копирования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"/>
          <p:cNvSpPr/>
          <p:nvPr/>
        </p:nvSpPr>
        <p:spPr>
          <a:xfrm>
            <a:off x="360000" y="1116000"/>
            <a:ext cx="5399280" cy="44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arr2.data_ = arr1.data_;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arr2.size_ = arr1.size_;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*/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10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//Ошибка: двойное освобождение памяти!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"/>
          <p:cNvSpPr/>
          <p:nvPr/>
        </p:nvSpPr>
        <p:spPr>
          <a:xfrm flipV="1">
            <a:off x="6264000" y="1944000"/>
            <a:ext cx="360000" cy="7200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373" name=""/>
          <p:cNvGrpSpPr/>
          <p:nvPr/>
        </p:nvGrpSpPr>
        <p:grpSpPr>
          <a:xfrm>
            <a:off x="5760000" y="2808000"/>
            <a:ext cx="1799280" cy="358920"/>
            <a:chOff x="5760000" y="2808000"/>
            <a:chExt cx="1799280" cy="358920"/>
          </a:xfrm>
        </p:grpSpPr>
        <p:sp>
          <p:nvSpPr>
            <p:cNvPr id="374" name=""/>
            <p:cNvSpPr/>
            <p:nvPr/>
          </p:nvSpPr>
          <p:spPr>
            <a:xfrm>
              <a:off x="5760000" y="2808000"/>
              <a:ext cx="1799280" cy="3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75" name=""/>
            <p:cNvSpPr/>
            <p:nvPr/>
          </p:nvSpPr>
          <p:spPr>
            <a:xfrm>
              <a:off x="5816160" y="2808000"/>
              <a:ext cx="8071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data</a:t>
              </a:r>
              <a:r>
                <a:rPr b="0" lang="ru-RU" sz="15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_</a:t>
              </a:r>
              <a:endParaRPr b="0" lang="ru-RU" sz="15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6" name=""/>
            <p:cNvSpPr/>
            <p:nvPr/>
          </p:nvSpPr>
          <p:spPr>
            <a:xfrm>
              <a:off x="6696000" y="2808360"/>
              <a:ext cx="8074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size_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77" name=""/>
          <p:cNvGrpSpPr/>
          <p:nvPr/>
        </p:nvGrpSpPr>
        <p:grpSpPr>
          <a:xfrm>
            <a:off x="7740000" y="2808360"/>
            <a:ext cx="1799280" cy="358920"/>
            <a:chOff x="7740000" y="2808360"/>
            <a:chExt cx="1799280" cy="358920"/>
          </a:xfrm>
        </p:grpSpPr>
        <p:sp>
          <p:nvSpPr>
            <p:cNvPr id="378" name=""/>
            <p:cNvSpPr/>
            <p:nvPr/>
          </p:nvSpPr>
          <p:spPr>
            <a:xfrm>
              <a:off x="7740000" y="2808360"/>
              <a:ext cx="1799280" cy="3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79" name=""/>
            <p:cNvSpPr/>
            <p:nvPr/>
          </p:nvSpPr>
          <p:spPr>
            <a:xfrm>
              <a:off x="7796160" y="2808360"/>
              <a:ext cx="8071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data</a:t>
              </a:r>
              <a:r>
                <a:rPr b="0" lang="ru-RU" sz="15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_</a:t>
              </a:r>
              <a:endParaRPr b="0" lang="ru-RU" sz="15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0" name=""/>
            <p:cNvSpPr/>
            <p:nvPr/>
          </p:nvSpPr>
          <p:spPr>
            <a:xfrm>
              <a:off x="8676000" y="2808720"/>
              <a:ext cx="80748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size_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81" name=""/>
          <p:cNvSpPr/>
          <p:nvPr/>
        </p:nvSpPr>
        <p:spPr>
          <a:xfrm flipH="1" flipV="1">
            <a:off x="6660000" y="1944000"/>
            <a:ext cx="1499040" cy="720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382" name=""/>
          <p:cNvGrpSpPr/>
          <p:nvPr/>
        </p:nvGrpSpPr>
        <p:grpSpPr>
          <a:xfrm>
            <a:off x="6372000" y="1548360"/>
            <a:ext cx="2159280" cy="358920"/>
            <a:chOff x="6372000" y="1548360"/>
            <a:chExt cx="2159280" cy="358920"/>
          </a:xfrm>
        </p:grpSpPr>
        <p:sp>
          <p:nvSpPr>
            <p:cNvPr id="383" name=""/>
            <p:cNvSpPr/>
            <p:nvPr/>
          </p:nvSpPr>
          <p:spPr>
            <a:xfrm>
              <a:off x="6372000" y="1548360"/>
              <a:ext cx="2159280" cy="35856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84" name=""/>
            <p:cNvSpPr/>
            <p:nvPr/>
          </p:nvSpPr>
          <p:spPr>
            <a:xfrm>
              <a:off x="6428160" y="154836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5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1</a:t>
              </a:r>
              <a:endParaRPr b="0" lang="ru-RU" sz="15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5" name=""/>
            <p:cNvSpPr/>
            <p:nvPr/>
          </p:nvSpPr>
          <p:spPr>
            <a:xfrm>
              <a:off x="6954840" y="1548360"/>
              <a:ext cx="46836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2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6" name=""/>
            <p:cNvSpPr/>
            <p:nvPr/>
          </p:nvSpPr>
          <p:spPr>
            <a:xfrm>
              <a:off x="7480080" y="1548720"/>
              <a:ext cx="46944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7" name=""/>
            <p:cNvSpPr/>
            <p:nvPr/>
          </p:nvSpPr>
          <p:spPr>
            <a:xfrm>
              <a:off x="8006760" y="1548720"/>
              <a:ext cx="468720" cy="35856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4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88" name=""/>
          <p:cNvSpPr/>
          <p:nvPr/>
        </p:nvSpPr>
        <p:spPr>
          <a:xfrm>
            <a:off x="6372000" y="3420000"/>
            <a:ext cx="5864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arr1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"/>
          <p:cNvSpPr/>
          <p:nvPr/>
        </p:nvSpPr>
        <p:spPr>
          <a:xfrm>
            <a:off x="8316360" y="3420000"/>
            <a:ext cx="5864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arr2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Конструктор копирования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"/>
          <p:cNvSpPr/>
          <p:nvPr/>
        </p:nvSpPr>
        <p:spPr>
          <a:xfrm>
            <a:off x="360000" y="1116000"/>
            <a:ext cx="5399280" cy="44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: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</a:t>
            </a:r>
            <a:br>
              <a:rPr sz="1550"/>
            </a:b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//OK, нет ошибок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5760000" y="1254600"/>
            <a:ext cx="4034880" cy="407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Переопределим конструктор копирования, используя механизм «делегирования конструкторов»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Теперь копирующая инициализация работает, как задумано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Ошибок двойного освобождения памяти нет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Проблема присваивания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360000" y="1116000"/>
            <a:ext cx="5399280" cy="42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;</a:t>
            </a:r>
            <a:br>
              <a:rPr sz="1550"/>
            </a:b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Arial"/>
                <a:ea typeface="Noto Sans CJK SC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Arial"/>
                <a:ea typeface="Noto Sans CJK SC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] 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Arial"/>
                <a:ea typeface="Noto Sans CJK SC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Arial"/>
                <a:ea typeface="Noto Sans CJK SC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arr2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Arial"/>
                <a:ea typeface="Noto Sans CJK SC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Arial"/>
                <a:ea typeface="Noto Sans CJK SC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]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Arial"/>
                <a:ea typeface="Noto Sans CJK SC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Arial"/>
                <a:ea typeface="Noto Sans CJK SC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Arial"/>
                <a:ea typeface="Noto Sans CJK SC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Arial"/>
                <a:ea typeface="Noto Sans CJK SC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Arial"/>
                <a:ea typeface="Noto Sans CJK SC"/>
              </a:rPr>
              <a:t>;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Arial"/>
                <a:ea typeface="Noto Sans CJK SC"/>
              </a:rPr>
              <a:t>// 10</a:t>
            </a:r>
            <a:br>
              <a:rPr sz="1550"/>
            </a:b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//Ошибка: двойное освобождение памяти!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/>
          </p:nvPr>
        </p:nvSpPr>
        <p:spPr>
          <a:xfrm>
            <a:off x="5760000" y="1254600"/>
            <a:ext cx="4034880" cy="407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Если после создания переменной присвоить ей значение другой переменной того же типа, то вызовется оператор присваивания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Компилятор сам определяет оператор присваивания для всех классов так, что тот копирует все поля одного класса в соответствующие поля другого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Мы можем переопределить его поведение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Оператор присваивания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"/>
          <p:cNvSpPr/>
          <p:nvPr/>
        </p:nvSpPr>
        <p:spPr>
          <a:xfrm>
            <a:off x="360000" y="1080000"/>
            <a:ext cx="6479280" cy="449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operator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if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== &amp;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-&gt;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~IntVector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6660000" y="1146960"/>
            <a:ext cx="3134880" cy="407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Оператор присваивания возвращает ссылку на свой левый операнд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operator[ ] и метод size()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360000" y="1080000"/>
            <a:ext cx="4139280" cy="34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operator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pos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pos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   size_t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(); ++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 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/>
          </p:nvPr>
        </p:nvSpPr>
        <p:spPr>
          <a:xfrm>
            <a:off x="6120000" y="1254960"/>
            <a:ext cx="3674880" cy="407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Теперь к элементам IntVector можно обращаться, как к элементам массива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Поля data_ и size_ можно сделать приватными 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ubTitle"/>
          </p:nvPr>
        </p:nvSpPr>
        <p:spPr>
          <a:xfrm>
            <a:off x="504000" y="225360"/>
            <a:ext cx="9070920" cy="438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Семантика перемещений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l-value и r-value значения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5332680" y="1506600"/>
            <a:ext cx="442620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l-value — всё, что может стоять слева от «=»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Переменные, указатели, ссылки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r-value — всё, что не может стоять лева от «=»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Временные значения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Указатели могут ссылаться только на l-value или C-строки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"/>
          <p:cNvSpPr/>
          <p:nvPr/>
        </p:nvSpPr>
        <p:spPr>
          <a:xfrm>
            <a:off x="0" y="1584000"/>
            <a:ext cx="5253120" cy="17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/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4.0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&amp;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char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q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"Compiler"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IntVector(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0" y="3276360"/>
            <a:ext cx="4535280" cy="14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l-value: a, b, p, q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r-value: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/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4.0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, &amp;a,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"Compiler",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IntVector(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l-value и r-value ссылки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/>
          </p:nvPr>
        </p:nvSpPr>
        <p:spPr>
          <a:xfrm>
            <a:off x="5152680" y="1326600"/>
            <a:ext cx="442620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Существуют 2 типа ссылок: 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Ссылка на l-value значение (далее: l-value ссылка)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Ссылка на r-value значение (далее: r-value ссылка)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"/>
          <p:cNvSpPr/>
          <p:nvPr/>
        </p:nvSpPr>
        <p:spPr>
          <a:xfrm>
            <a:off x="504000" y="1368000"/>
            <a:ext cx="2583360" cy="17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l-value ссылка: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l_ref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r-value ссылка: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r_ref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14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Постановка проблемы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"/>
          <p:cNvSpPr/>
          <p:nvPr/>
        </p:nvSpPr>
        <p:spPr>
          <a:xfrm>
            <a:off x="36000" y="1188000"/>
            <a:ext cx="5120280" cy="44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average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sum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accumulate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begin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(),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end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(),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0.0</a:t>
            </a:r>
            <a:br>
              <a:rPr sz="1750"/>
            </a:b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sum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/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average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7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OK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average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({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}); 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Ошибка!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2"/>
          <p:cNvSpPr>
            <a:spLocks noGrp="1"/>
          </p:cNvSpPr>
          <p:nvPr>
            <p:ph/>
          </p:nvPr>
        </p:nvSpPr>
        <p:spPr>
          <a:xfrm>
            <a:off x="5657400" y="1290600"/>
            <a:ext cx="442620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Функцию average нельзя вызвать от r-value значения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l-value ссылка на r-value значение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"/>
          <p:cNvSpPr/>
          <p:nvPr/>
        </p:nvSpPr>
        <p:spPr>
          <a:xfrm>
            <a:off x="36360" y="1188720"/>
            <a:ext cx="5479200" cy="44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average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sum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accumulate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begin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(),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end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(),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0.0</a:t>
            </a:r>
            <a:br>
              <a:rPr sz="1550"/>
            </a:b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sum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/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average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OK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average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({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}); 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OK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5657040" y="1290600"/>
            <a:ext cx="442620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Разрешено преобразование:</a:t>
            </a:r>
            <a:br>
              <a:rPr sz="2000"/>
            </a:b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r-value → const T&amp;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Это преобразование выполняется неявно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r-value ссылка на l-value значение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3352680" y="1326600"/>
            <a:ext cx="370260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Разрешено преобразование:</a:t>
            </a:r>
            <a:br>
              <a:rPr sz="2000"/>
            </a:b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l-value → T&amp;&amp;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Это преобразование должно быть выполнено явно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см. example1.cpp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504000" y="73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Копирование аргументов при вызове функции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2"/>
          <p:cNvSpPr>
            <a:spLocks noGrp="1"/>
          </p:cNvSpPr>
          <p:nvPr>
            <p:ph/>
          </p:nvPr>
        </p:nvSpPr>
        <p:spPr>
          <a:xfrm>
            <a:off x="5472000" y="1440000"/>
            <a:ext cx="4391280" cy="413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Определять для каждой задачи 2 функции — долго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Чтобы избежать копипаста — определим одну функцию, принимающую IntVector, а не &amp; или &amp;&amp;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Тогда аргумент myMetric1 станет аргументом конструктора IntVector при создании переменной param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Чтобы избежать копирования, нужно грамотно реализовать конструктор от IntVector&amp;&amp;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>
            <a:off x="180000" y="1584000"/>
            <a:ext cx="5120280" cy="31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myMetric1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param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 */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myMetric1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IntVector param(arr);</a:t>
            </a:r>
            <a:br>
              <a:rPr sz="1750"/>
            </a:b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myMetric1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&amp;&amp;)arr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750"/>
            </a:br>
            <a:r>
              <a:rPr b="0" i="1" lang="ru-RU" sz="17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IntVector param((IntVector&amp;&amp;)arr);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504000" y="73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Перемещающий конструктор копирования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5472000" y="1440000"/>
            <a:ext cx="4391280" cy="413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Дополним класс IntVector ещё одним конструктором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Ему подаётся на вход ссылка на другой, «временный», объект IntVector, который вызывающему коду более не нужен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Поэтому мы можем «захватить» динамическую память, используемую переданным объектом, а после — порвать его связь с этой памятью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540000" y="1476000"/>
            <a:ext cx="4103280" cy="279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: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), 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 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nullptr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550"/>
            </a:b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504000" y="73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Перемещающий оператор присваивания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5472000" y="1440000"/>
            <a:ext cx="4391280" cy="413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Действует аналогично перемещающему конструктору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Позволяет перемещать уже созданные объекты: </a:t>
            </a:r>
            <a:br>
              <a:rPr sz="2000"/>
            </a:b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 </a:t>
            </a: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20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20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20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20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2000"/>
            </a:b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 </a:t>
            </a: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20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20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20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20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2000"/>
            </a:b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 </a:t>
            </a: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20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9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20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&amp;&amp;)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20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"/>
          <p:cNvSpPr/>
          <p:nvPr/>
        </p:nvSpPr>
        <p:spPr>
          <a:xfrm>
            <a:off x="36000" y="1476000"/>
            <a:ext cx="5369400" cy="41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operator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=(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if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== &amp;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size_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871094"/>
                </a:solidFill>
                <a:effectLst/>
                <a:uFillTx/>
                <a:latin typeface="JetBrains Mono"/>
                <a:ea typeface="JetBrains Mono"/>
              </a:rPr>
              <a:t>data_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nullptr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this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title"/>
          </p:nvPr>
        </p:nvSpPr>
        <p:spPr>
          <a:xfrm>
            <a:off x="504000" y="73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Возврат из функции локального объекта класса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"/>
          <p:cNvSpPr/>
          <p:nvPr/>
        </p:nvSpPr>
        <p:spPr>
          <a:xfrm>
            <a:off x="36000" y="1548000"/>
            <a:ext cx="5743080" cy="38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-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-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arr3(arr1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+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4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/* ... */</a:t>
            </a:r>
            <a:br>
              <a:rPr sz="1400"/>
            </a:br>
            <a:r>
              <a:rPr b="0" i="1" lang="ru-RU" sz="14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arr3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4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arr4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arr5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arr6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arr4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arr5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29" name=""/>
          <p:cNvGrpSpPr/>
          <p:nvPr/>
        </p:nvGrpSpPr>
        <p:grpSpPr>
          <a:xfrm>
            <a:off x="5796000" y="2160000"/>
            <a:ext cx="1259280" cy="2879280"/>
            <a:chOff x="5796000" y="2160000"/>
            <a:chExt cx="1259280" cy="2879280"/>
          </a:xfrm>
        </p:grpSpPr>
        <p:sp>
          <p:nvSpPr>
            <p:cNvPr id="430" name=""/>
            <p:cNvSpPr/>
            <p:nvPr/>
          </p:nvSpPr>
          <p:spPr>
            <a:xfrm>
              <a:off x="5796000" y="2160000"/>
              <a:ext cx="1259280" cy="28792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31" name=""/>
            <p:cNvSpPr/>
            <p:nvPr/>
          </p:nvSpPr>
          <p:spPr>
            <a:xfrm>
              <a:off x="5976000" y="2224440"/>
              <a:ext cx="89928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arr6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2" name=""/>
            <p:cNvSpPr/>
            <p:nvPr/>
          </p:nvSpPr>
          <p:spPr>
            <a:xfrm>
              <a:off x="5976360" y="2728800"/>
              <a:ext cx="89892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3" name=""/>
            <p:cNvSpPr/>
            <p:nvPr/>
          </p:nvSpPr>
          <p:spPr>
            <a:xfrm>
              <a:off x="5976720" y="3305160"/>
              <a:ext cx="89856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ret val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4" name=""/>
            <p:cNvSpPr/>
            <p:nvPr/>
          </p:nvSpPr>
          <p:spPr>
            <a:xfrm>
              <a:off x="5977080" y="3845520"/>
              <a:ext cx="89820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5" name=""/>
            <p:cNvSpPr/>
            <p:nvPr/>
          </p:nvSpPr>
          <p:spPr>
            <a:xfrm>
              <a:off x="5977440" y="4385880"/>
              <a:ext cx="89784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arr3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36" name=""/>
          <p:cNvGrpSpPr/>
          <p:nvPr/>
        </p:nvGrpSpPr>
        <p:grpSpPr>
          <a:xfrm>
            <a:off x="7236000" y="2160000"/>
            <a:ext cx="2699280" cy="2879280"/>
            <a:chOff x="7236000" y="2160000"/>
            <a:chExt cx="2699280" cy="2879280"/>
          </a:xfrm>
        </p:grpSpPr>
        <p:sp>
          <p:nvSpPr>
            <p:cNvPr id="437" name=""/>
            <p:cNvSpPr/>
            <p:nvPr/>
          </p:nvSpPr>
          <p:spPr>
            <a:xfrm>
              <a:off x="7236000" y="2160000"/>
              <a:ext cx="2699280" cy="28792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38" name=""/>
            <p:cNvSpPr/>
            <p:nvPr/>
          </p:nvSpPr>
          <p:spPr>
            <a:xfrm>
              <a:off x="7621560" y="2224440"/>
              <a:ext cx="192816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IntVector(ret val)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9" name=""/>
            <p:cNvSpPr/>
            <p:nvPr/>
          </p:nvSpPr>
          <p:spPr>
            <a:xfrm>
              <a:off x="7621920" y="2728800"/>
              <a:ext cx="192780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0" name=""/>
            <p:cNvSpPr/>
            <p:nvPr/>
          </p:nvSpPr>
          <p:spPr>
            <a:xfrm>
              <a:off x="7623360" y="3305160"/>
              <a:ext cx="192636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IntVector(arr3)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1" name=""/>
            <p:cNvSpPr/>
            <p:nvPr/>
          </p:nvSpPr>
          <p:spPr>
            <a:xfrm>
              <a:off x="7624080" y="3845520"/>
              <a:ext cx="192564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2" name=""/>
            <p:cNvSpPr/>
            <p:nvPr/>
          </p:nvSpPr>
          <p:spPr>
            <a:xfrm>
              <a:off x="7624800" y="4385880"/>
              <a:ext cx="192492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arr3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43" name=""/>
          <p:cNvSpPr/>
          <p:nvPr/>
        </p:nvSpPr>
        <p:spPr>
          <a:xfrm>
            <a:off x="6876000" y="2340000"/>
            <a:ext cx="745560" cy="360"/>
          </a:xfrm>
          <a:prstGeom prst="line">
            <a:avLst/>
          </a:prstGeom>
          <a:ln w="19080">
            <a:solidFill>
              <a:srgbClr val="87109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-54360" bIns="-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4" name=""/>
          <p:cNvSpPr/>
          <p:nvPr/>
        </p:nvSpPr>
        <p:spPr>
          <a:xfrm>
            <a:off x="6871320" y="3492000"/>
            <a:ext cx="745560" cy="360"/>
          </a:xfrm>
          <a:prstGeom prst="line">
            <a:avLst/>
          </a:prstGeom>
          <a:ln w="19080">
            <a:solidFill>
              <a:srgbClr val="87109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-54360" bIns="-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5" name=""/>
          <p:cNvSpPr/>
          <p:nvPr/>
        </p:nvSpPr>
        <p:spPr>
          <a:xfrm>
            <a:off x="6866640" y="4572000"/>
            <a:ext cx="745560" cy="360"/>
          </a:xfrm>
          <a:prstGeom prst="line">
            <a:avLst/>
          </a:prstGeom>
          <a:ln w="19080">
            <a:solidFill>
              <a:srgbClr val="87109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-54360" bIns="-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6" name=""/>
          <p:cNvSpPr/>
          <p:nvPr/>
        </p:nvSpPr>
        <p:spPr>
          <a:xfrm>
            <a:off x="7524000" y="1692000"/>
            <a:ext cx="20948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Во время «return»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"/>
          <p:cNvSpPr/>
          <p:nvPr/>
        </p:nvSpPr>
        <p:spPr>
          <a:xfrm>
            <a:off x="6084360" y="1692000"/>
            <a:ext cx="6742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Стек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title"/>
          </p:nvPr>
        </p:nvSpPr>
        <p:spPr>
          <a:xfrm>
            <a:off x="504000" y="73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Оптимизация возврата из функции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36000" y="1548000"/>
            <a:ext cx="5743080" cy="38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-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0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&amp;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-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arr3(arr1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+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size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4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/* ... */</a:t>
            </a:r>
            <a:br>
              <a:rPr sz="1400"/>
            </a:br>
            <a:r>
              <a:rPr b="0" i="1" lang="ru-RU" sz="14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&amp;&amp;)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arr3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4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arr4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arr5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arr6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(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&amp;&amp;)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arr4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arr5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50" name=""/>
          <p:cNvGrpSpPr/>
          <p:nvPr/>
        </p:nvGrpSpPr>
        <p:grpSpPr>
          <a:xfrm>
            <a:off x="5796000" y="2160000"/>
            <a:ext cx="1115280" cy="2879280"/>
            <a:chOff x="5796000" y="2160000"/>
            <a:chExt cx="1115280" cy="2879280"/>
          </a:xfrm>
        </p:grpSpPr>
        <p:sp>
          <p:nvSpPr>
            <p:cNvPr id="451" name=""/>
            <p:cNvSpPr/>
            <p:nvPr/>
          </p:nvSpPr>
          <p:spPr>
            <a:xfrm>
              <a:off x="5796000" y="2160000"/>
              <a:ext cx="1115280" cy="28792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52" name=""/>
            <p:cNvSpPr/>
            <p:nvPr/>
          </p:nvSpPr>
          <p:spPr>
            <a:xfrm>
              <a:off x="5904000" y="2224440"/>
              <a:ext cx="89928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arr6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3" name=""/>
            <p:cNvSpPr/>
            <p:nvPr/>
          </p:nvSpPr>
          <p:spPr>
            <a:xfrm>
              <a:off x="5904360" y="2728800"/>
              <a:ext cx="89892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4" name=""/>
            <p:cNvSpPr/>
            <p:nvPr/>
          </p:nvSpPr>
          <p:spPr>
            <a:xfrm>
              <a:off x="5904720" y="3305160"/>
              <a:ext cx="89856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ret val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5" name=""/>
            <p:cNvSpPr/>
            <p:nvPr/>
          </p:nvSpPr>
          <p:spPr>
            <a:xfrm>
              <a:off x="5905080" y="3845520"/>
              <a:ext cx="89820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6" name=""/>
            <p:cNvSpPr/>
            <p:nvPr/>
          </p:nvSpPr>
          <p:spPr>
            <a:xfrm>
              <a:off x="5905440" y="4385880"/>
              <a:ext cx="89784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arr3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57" name=""/>
          <p:cNvGrpSpPr/>
          <p:nvPr/>
        </p:nvGrpSpPr>
        <p:grpSpPr>
          <a:xfrm>
            <a:off x="7272000" y="2160000"/>
            <a:ext cx="2627280" cy="2879280"/>
            <a:chOff x="7272000" y="2160000"/>
            <a:chExt cx="2627280" cy="2879280"/>
          </a:xfrm>
        </p:grpSpPr>
        <p:sp>
          <p:nvSpPr>
            <p:cNvPr id="458" name=""/>
            <p:cNvSpPr/>
            <p:nvPr/>
          </p:nvSpPr>
          <p:spPr>
            <a:xfrm>
              <a:off x="7272000" y="2160000"/>
              <a:ext cx="2627280" cy="2879280"/>
            </a:xfrm>
            <a:prstGeom prst="rect">
              <a:avLst/>
            </a:prstGeom>
            <a:solidFill>
              <a:srgbClr val="729fcf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459" name=""/>
            <p:cNvSpPr/>
            <p:nvPr/>
          </p:nvSpPr>
          <p:spPr>
            <a:xfrm>
              <a:off x="7441560" y="2224440"/>
              <a:ext cx="228816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IntVector(&amp;&amp;ret val)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0" name=""/>
            <p:cNvSpPr/>
            <p:nvPr/>
          </p:nvSpPr>
          <p:spPr>
            <a:xfrm>
              <a:off x="7441920" y="2728800"/>
              <a:ext cx="228780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1" name=""/>
            <p:cNvSpPr/>
            <p:nvPr/>
          </p:nvSpPr>
          <p:spPr>
            <a:xfrm>
              <a:off x="7443720" y="3305160"/>
              <a:ext cx="228600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IntVector(&amp;&amp;arr3)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2" name=""/>
            <p:cNvSpPr/>
            <p:nvPr/>
          </p:nvSpPr>
          <p:spPr>
            <a:xfrm>
              <a:off x="7444440" y="3845520"/>
              <a:ext cx="228528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...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3" name=""/>
            <p:cNvSpPr/>
            <p:nvPr/>
          </p:nvSpPr>
          <p:spPr>
            <a:xfrm>
              <a:off x="7445160" y="4385880"/>
              <a:ext cx="2284560" cy="359280"/>
            </a:xfrm>
            <a:prstGeom prst="roundRect">
              <a:avLst>
                <a:gd name="adj" fmla="val 16667"/>
              </a:avLst>
            </a:prstGeom>
            <a:solidFill>
              <a:srgbClr val="3465a4"/>
            </a:solidFill>
            <a:ln w="0">
              <a:solidFill>
                <a:srgbClr val="3465a4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ru-RU" sz="1800" strike="noStrike" u="none">
                  <a:solidFill>
                    <a:srgbClr val="ffffff"/>
                  </a:solidFill>
                  <a:effectLst/>
                  <a:uFillTx/>
                  <a:latin typeface="Arial"/>
                  <a:ea typeface="DejaVu Sans"/>
                </a:rPr>
                <a:t>arr3</a:t>
              </a:r>
              <a:endParaRPr b="0" lang="ru-RU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64" name=""/>
          <p:cNvSpPr/>
          <p:nvPr/>
        </p:nvSpPr>
        <p:spPr>
          <a:xfrm>
            <a:off x="6804000" y="2412000"/>
            <a:ext cx="637560" cy="360"/>
          </a:xfrm>
          <a:prstGeom prst="line">
            <a:avLst/>
          </a:prstGeom>
          <a:ln w="19080">
            <a:solidFill>
              <a:srgbClr val="87109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-54360" bIns="-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5" name=""/>
          <p:cNvSpPr/>
          <p:nvPr/>
        </p:nvSpPr>
        <p:spPr>
          <a:xfrm>
            <a:off x="7488000" y="1692000"/>
            <a:ext cx="20948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Во время «return»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6012360" y="1692000"/>
            <a:ext cx="67428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Стек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6799320" y="3492000"/>
            <a:ext cx="637560" cy="360"/>
          </a:xfrm>
          <a:prstGeom prst="line">
            <a:avLst/>
          </a:prstGeom>
          <a:ln w="19080">
            <a:solidFill>
              <a:srgbClr val="87109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-54360" bIns="-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8" name=""/>
          <p:cNvSpPr/>
          <p:nvPr/>
        </p:nvSpPr>
        <p:spPr>
          <a:xfrm>
            <a:off x="6794640" y="4572000"/>
            <a:ext cx="637560" cy="360"/>
          </a:xfrm>
          <a:prstGeom prst="line">
            <a:avLst/>
          </a:prstGeom>
          <a:ln w="19080">
            <a:solidFill>
              <a:srgbClr val="87109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9360" rIns="99360" tIns="-54360" bIns="-5436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504000" y="12960"/>
            <a:ext cx="9070920" cy="187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Семантика перемещений 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(move-семантика).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std::move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"/>
          <p:cNvSpPr/>
          <p:nvPr/>
        </p:nvSpPr>
        <p:spPr>
          <a:xfrm>
            <a:off x="216360" y="2016360"/>
            <a:ext cx="566784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0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#include </a:t>
            </a:r>
            <a:r>
              <a:rPr b="0" lang="ru-RU" sz="150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&lt;utility&gt;</a:t>
            </a:r>
            <a:br>
              <a:rPr sz="1500"/>
            </a:br>
            <a:r>
              <a:rPr b="0" i="1" lang="ru-RU" sz="15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arr1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arr2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/* ... */</a:t>
            </a:r>
            <a:br>
              <a:rPr sz="1500"/>
            </a:br>
            <a:r>
              <a:rPr b="0" i="1" lang="ru-RU" sz="15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move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arr3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500"/>
            </a:b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0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arr4 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5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3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8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00"/>
            </a:b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arr5 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4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9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00"/>
            </a:b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arr6 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::move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sort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arr4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arr5</a:t>
            </a:r>
            <a:r>
              <a:rPr b="0" lang="ru-RU" sz="15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));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6120000" y="2250000"/>
            <a:ext cx="3743280" cy="242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std::move принимает T и возвращает T&amp;&amp;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move-семантика — концепция, при которой ненужные более объекты перемещаются, а не копируются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title"/>
          </p:nvPr>
        </p:nvSpPr>
        <p:spPr>
          <a:xfrm>
            <a:off x="504000" y="325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Основные правила 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move-семантики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2"/>
          <p:cNvSpPr>
            <a:spLocks noGrp="1"/>
          </p:cNvSpPr>
          <p:nvPr>
            <p:ph/>
          </p:nvPr>
        </p:nvSpPr>
        <p:spPr>
          <a:xfrm>
            <a:off x="180000" y="2250000"/>
            <a:ext cx="9683280" cy="314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При возвращении локальной переменной из функции</a:t>
            </a:r>
            <a:br>
              <a:rPr sz="2000"/>
            </a:br>
            <a:r>
              <a:rPr b="0" lang="ru-RU" sz="2000" strike="noStrike" u="none">
                <a:solidFill>
                  <a:srgbClr val="0033b3"/>
                </a:solidFill>
                <a:effectLst/>
                <a:uFillTx/>
                <a:latin typeface="Arial"/>
              </a:rPr>
              <a:t>return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a == </a:t>
            </a:r>
            <a:r>
              <a:rPr b="0" lang="ru-RU" sz="2000" strike="noStrike" u="none">
                <a:solidFill>
                  <a:srgbClr val="0033b3"/>
                </a:solidFill>
                <a:effectLst/>
                <a:uFillTx/>
                <a:latin typeface="Arial"/>
              </a:rPr>
              <a:t>return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Arial"/>
              </a:rPr>
              <a:t>move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(a)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При работе с любым r-value значением</a:t>
            </a:r>
            <a:br>
              <a:rPr sz="2000"/>
            </a:b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r-value == </a:t>
            </a:r>
            <a:r>
              <a:rPr b="0" lang="ru-RU" sz="2000" strike="noStrike" u="none">
                <a:solidFill>
                  <a:srgbClr val="00627a"/>
                </a:solidFill>
                <a:effectLst/>
                <a:uFillTx/>
                <a:latin typeface="Arial"/>
              </a:rPr>
              <a:t>move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(r-value)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1080000" y="1728000"/>
            <a:ext cx="76348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i="1" lang="ru-RU" sz="22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Компилятор автоматически преобразует T к T&amp;&amp; при: 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title"/>
          </p:nvPr>
        </p:nvSpPr>
        <p:spPr>
          <a:xfrm>
            <a:off x="504000" y="4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Ключевое слово noexcept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>
            <a:off x="108360" y="1512360"/>
            <a:ext cx="5290920" cy="21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struct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br>
              <a:rPr sz="1550"/>
            </a:b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 */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noexcept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operator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=(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&amp;&amp;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other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noexcept;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2"/>
          <p:cNvSpPr>
            <a:spLocks noGrp="1"/>
          </p:cNvSpPr>
          <p:nvPr>
            <p:ph/>
          </p:nvPr>
        </p:nvSpPr>
        <p:spPr>
          <a:xfrm>
            <a:off x="5400000" y="1440000"/>
            <a:ext cx="4319280" cy="39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Этим словом помечается метод, не бросающий исключений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Перемещающие конструктор и оператор присваивания стоит объявлять как noexcept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 противном случае стандартные контейнеры будут использовать их копирующие аналоги (подробнее — на сайте </a:t>
            </a:r>
            <a:r>
              <a:rPr b="0" lang="ru-RU" sz="2000" strike="noStrike" u="none">
                <a:solidFill>
                  <a:srgbClr val="0000ee"/>
                </a:solidFill>
                <a:effectLst/>
                <a:uFillTx/>
                <a:latin typeface="Arial"/>
                <a:hlinkClick r:id="rId1"/>
              </a:rPr>
              <a:t>metanit.com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ubTitle"/>
          </p:nvPr>
        </p:nvSpPr>
        <p:spPr>
          <a:xfrm>
            <a:off x="504000" y="225360"/>
            <a:ext cx="9070920" cy="438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Умные указатели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title"/>
          </p:nvPr>
        </p:nvSpPr>
        <p:spPr>
          <a:xfrm>
            <a:off x="504000" y="4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std::unique_ptr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108360" y="1188360"/>
            <a:ext cx="5290920" cy="41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#include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&lt;memory&gt;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...*/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std::unique_ptr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"Адрес: "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get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Адрес: 0x5f9d457d42f0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*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"Новое значение: "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*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Новое значение: 12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reset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20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));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"Новый адрес: "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get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Новый адрес: 0x5a23dd3fa310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std::unique_ptr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move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/>
          </p:nvPr>
        </p:nvSpPr>
        <p:spPr>
          <a:xfrm>
            <a:off x="5400000" y="1152000"/>
            <a:ext cx="4499280" cy="413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Класс-обёртка над указателем, обеспечивающий единоличное пользование хранимым объектом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Может ссылаться на массивы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 unique_ptr удалён конструктор копирования, его объекты можно только перемещать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Методы: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get() — возвращает «сырой» указатель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reset(T*) — освобождает память предыдущего объекта и захватывает новый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release() - отпускает контроль над объектом, не освобождая память, и возвращает хранимый указатель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504000" y="4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std::shared_ptr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108360" y="1224360"/>
            <a:ext cx="5290920" cy="41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#include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&lt;memory&gt;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std::shared_ptr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100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"Адрес: "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Адрес: 0x5f42a0fe2770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12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"Новое значение: "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10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] 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Новое значение: 12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"Новый адрес: "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.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get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Новый адрес: 0x5f42a0fe2770</a:t>
            </a:r>
            <a:br>
              <a:rPr sz="1550"/>
            </a:b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std::shared_ptr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ptr2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PlaceHolder 2"/>
          <p:cNvSpPr>
            <a:spLocks noGrp="1"/>
          </p:cNvSpPr>
          <p:nvPr>
            <p:ph/>
          </p:nvPr>
        </p:nvSpPr>
        <p:spPr>
          <a:xfrm>
            <a:off x="5400000" y="1116000"/>
            <a:ext cx="4499280" cy="424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Класс-обёртка над указателем, обеспечивающий множественное пользование хранимым объектом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Может ссылаться на массивы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 shared_ptr конструктор копирования копирует лишь указатели, обеспечивая хранимый объект несколькими владельцами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Память хранимого объекта очищается лишь после удаления последнего shared_ptr, связанного с ним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Методы, как у unique_ptr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title"/>
          </p:nvPr>
        </p:nvSpPr>
        <p:spPr>
          <a:xfrm>
            <a:off x="504000" y="4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Умные указатели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"/>
          <p:cNvSpPr/>
          <p:nvPr/>
        </p:nvSpPr>
        <p:spPr>
          <a:xfrm>
            <a:off x="72000" y="1335240"/>
            <a:ext cx="5290920" cy="245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9e880d"/>
                </a:solidFill>
                <a:effectLst/>
                <a:uFillTx/>
                <a:latin typeface="JetBrains Mono"/>
                <a:ea typeface="JetBrains Mono"/>
              </a:rPr>
              <a:t>#include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&lt;memory&gt;</a:t>
            </a:r>
            <a:br>
              <a:rPr sz="1550"/>
            </a:br>
            <a:r>
              <a:rPr b="0" i="1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/* ...*/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550" strike="noStrike" u="none">
                <a:solidFill>
                  <a:srgbClr val="2a6099"/>
                </a:solidFill>
                <a:effectLst/>
                <a:uFillTx/>
                <a:latin typeface="JetBrains Mono"/>
                <a:ea typeface="JetBrains Mono"/>
              </a:rPr>
              <a:t>unique_ptr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cout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== 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nullptr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&lt;&lt; 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037a6"/>
                </a:solidFill>
                <a:effectLst/>
                <a:uFillTx/>
                <a:latin typeface="JetBrains Mono"/>
                <a:ea typeface="JetBrains Mono"/>
              </a:rPr>
              <a:t>\n</a:t>
            </a:r>
            <a:r>
              <a:rPr b="0" lang="ru-RU" sz="1550" strike="noStrike" u="none">
                <a:solidFill>
                  <a:srgbClr val="067d17"/>
                </a:solidFill>
                <a:effectLst/>
                <a:uFillTx/>
                <a:latin typeface="JetBrains Mono"/>
                <a:ea typeface="JetBrains Mono"/>
              </a:rPr>
              <a:t>'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550"/>
            </a:br>
            <a:r>
              <a:rPr b="0" lang="ru-RU" sz="1550" strike="noStrike" u="none">
                <a:solidFill>
                  <a:srgbClr val="8c8c8c"/>
                </a:solidFill>
                <a:effectLst/>
                <a:uFillTx/>
                <a:latin typeface="JetBrains Mono"/>
                <a:ea typeface="JetBrains Mono"/>
              </a:rPr>
              <a:t>// 1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make_unique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br>
              <a:rPr sz="1550"/>
            </a:b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 </a:t>
            </a:r>
            <a:r>
              <a:rPr b="0" lang="ru-RU" sz="15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ptr2 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5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make_shared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5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double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&gt;(</a:t>
            </a:r>
            <a:r>
              <a:rPr b="0" lang="ru-RU" sz="155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6.7</a:t>
            </a:r>
            <a:r>
              <a:rPr b="0" lang="ru-RU" sz="15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);</a:t>
            </a:r>
            <a:endParaRPr b="0" lang="ru-RU" sz="15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PlaceHolder 2"/>
          <p:cNvSpPr>
            <a:spLocks noGrp="1"/>
          </p:cNvSpPr>
          <p:nvPr>
            <p:ph/>
          </p:nvPr>
        </p:nvSpPr>
        <p:spPr>
          <a:xfrm>
            <a:off x="5400000" y="1260000"/>
            <a:ext cx="4499280" cy="26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Инициализируются значением </a:t>
            </a:r>
            <a:r>
              <a:rPr b="0" lang="ru-RU" sz="2000" strike="noStrike" u="none">
                <a:solidFill>
                  <a:srgbClr val="0033b3"/>
                </a:solidFill>
                <a:effectLst/>
                <a:uFillTx/>
                <a:latin typeface="Arial"/>
              </a:rPr>
              <a:t>nullptr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по-умолчанию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Функции </a:t>
            </a:r>
            <a:r>
              <a:rPr b="0" lang="ru-RU" sz="2000" strike="noStrike" u="none">
                <a:solidFill>
                  <a:srgbClr val="2a6099"/>
                </a:solidFill>
                <a:effectLst/>
                <a:uFillTx/>
                <a:latin typeface="Arial"/>
              </a:rPr>
              <a:t>std::make_unique()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и </a:t>
            </a:r>
            <a:r>
              <a:rPr b="0" lang="ru-RU" sz="2000" strike="noStrike" u="none">
                <a:solidFill>
                  <a:srgbClr val="2a6099"/>
                </a:solidFill>
                <a:effectLst/>
                <a:uFillTx/>
                <a:latin typeface="Arial"/>
              </a:rPr>
              <a:t>std::make_shared()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принимают объект и возвращают умный указатель на его копию в динамической памяти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title"/>
          </p:nvPr>
        </p:nvSpPr>
        <p:spPr>
          <a:xfrm>
            <a:off x="504000" y="1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Умные указатели. </a:t>
            </a:r>
            <a:br>
              <a:rPr sz="4400"/>
            </a:b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Собственная реализация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PlaceHolder 2"/>
          <p:cNvSpPr>
            <a:spLocks noGrp="1"/>
          </p:cNvSpPr>
          <p:nvPr>
            <p:ph/>
          </p:nvPr>
        </p:nvSpPr>
        <p:spPr>
          <a:xfrm>
            <a:off x="2808000" y="1476000"/>
            <a:ext cx="4499280" cy="26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см. файлы unique.hpp и shared.hpp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PlaceHolder 1"/>
          <p:cNvSpPr>
            <a:spLocks noGrp="1"/>
          </p:cNvSpPr>
          <p:nvPr>
            <p:ph type="subTitle"/>
          </p:nvPr>
        </p:nvSpPr>
        <p:spPr>
          <a:xfrm>
            <a:off x="504000" y="225360"/>
            <a:ext cx="9070920" cy="438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Гарантии безопасности исключений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title"/>
          </p:nvPr>
        </p:nvSpPr>
        <p:spPr>
          <a:xfrm>
            <a:off x="504000" y="1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Гарантии безопасности исключений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2"/>
          <p:cNvSpPr>
            <a:spLocks noGrp="1"/>
          </p:cNvSpPr>
          <p:nvPr>
            <p:ph/>
          </p:nvPr>
        </p:nvSpPr>
        <p:spPr>
          <a:xfrm>
            <a:off x="180000" y="1872000"/>
            <a:ext cx="9719280" cy="26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Полная гарантия: функция не бросает исключений (noexcept)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Строгая гарантия: если во время исполнения функции выбрасывается исключение, она обязуется вернуть все данные программы к их состоянию до вызова этой функции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Базовая гарантия: если во время исполнения функции выбрасывается исключение, она обязуется оставить данные программы в неком согласованном (годном для дальнейшего использования) виде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title"/>
          </p:nvPr>
        </p:nvSpPr>
        <p:spPr>
          <a:xfrm>
            <a:off x="504000" y="1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Строгая гарантия безопасности исключений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"/>
          <p:cNvSpPr/>
          <p:nvPr/>
        </p:nvSpPr>
        <p:spPr>
          <a:xfrm>
            <a:off x="72000" y="1443240"/>
            <a:ext cx="6947280" cy="34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get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std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::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function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)&gt;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func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initial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pos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*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int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pos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+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{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initial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for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size_t i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&lt;=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pos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 ++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   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 =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func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- </a:t>
            </a:r>
            <a:r>
              <a:rPr b="0" lang="ru-RU" sz="1400" strike="noStrike" u="none">
                <a:solidFill>
                  <a:srgbClr val="1750eb"/>
                </a:solidFill>
                <a:effectLst/>
                <a:uFillTx/>
                <a:latin typeface="JetBrains Mono"/>
                <a:ea typeface="JetBrains Mono"/>
              </a:rPr>
              <a:t>1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]);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}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int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res 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pos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];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delete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[]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arr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4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res</a:t>
            </a: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400"/>
            </a:br>
            <a:r>
              <a:rPr b="0" lang="ru-RU" sz="14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/>
          </p:nvPr>
        </p:nvSpPr>
        <p:spPr>
          <a:xfrm>
            <a:off x="7020000" y="1432440"/>
            <a:ext cx="3059280" cy="306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Возможна утечка памяти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Данная функция не обеспечивает никакой гарантии безопасности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Правильный подход — использовать vector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504000" y="1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Строгая гарантия безопасности исключений. Проблема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"/>
          <p:cNvSpPr/>
          <p:nvPr/>
        </p:nvSpPr>
        <p:spPr>
          <a:xfrm>
            <a:off x="72000" y="1335240"/>
            <a:ext cx="9827280" cy="17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using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using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unique_ptr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&gt;;</a:t>
            </a: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pair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makeUniquePair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))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))}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PlaceHolder 2"/>
          <p:cNvSpPr>
            <a:spLocks noGrp="1"/>
          </p:cNvSpPr>
          <p:nvPr>
            <p:ph/>
          </p:nvPr>
        </p:nvSpPr>
        <p:spPr>
          <a:xfrm>
            <a:off x="180000" y="3168000"/>
            <a:ext cx="9719280" cy="233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Порядок выполнения инструкций:</a:t>
            </a:r>
            <a:br>
              <a:rPr sz="1700"/>
            </a:b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temp1 = </a:t>
            </a:r>
            <a:r>
              <a:rPr b="0" lang="ru-RU" sz="17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IntVector(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700"/>
            </a:b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temp2 =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7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IntVector(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br>
              <a:rPr sz="1700"/>
            </a:b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Если исключение будет брошено сейчас, то будет утечка памяти!</a:t>
            </a:r>
            <a:br>
              <a:rPr sz="1700"/>
            </a:b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temp3 =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 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IntVecPtr(temp1)</a:t>
            </a:r>
            <a:br>
              <a:rPr sz="1700"/>
            </a:b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temp4 = IntVecPtr(temp2)</a:t>
            </a:r>
            <a:br>
              <a:rPr sz="1700"/>
            </a:br>
            <a:r>
              <a:rPr b="0" lang="ru-RU" sz="170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pair</a:t>
            </a:r>
            <a:r>
              <a:rPr b="0" lang="ru-RU" sz="17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IntVecPtr</a:t>
            </a:r>
            <a:r>
              <a:rPr b="0" lang="ru-RU" sz="17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IntVecPtr</a:t>
            </a:r>
            <a:r>
              <a:rPr b="0" lang="ru-RU" sz="17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&gt;(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move</a:t>
            </a:r>
            <a:r>
              <a:rPr b="0" lang="ru-RU" sz="17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temp3), </a:t>
            </a:r>
            <a:r>
              <a:rPr b="0" lang="ru-RU" sz="170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move</a:t>
            </a:r>
            <a:r>
              <a:rPr b="0" lang="ru-RU" sz="170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(temp4</a:t>
            </a:r>
            <a:r>
              <a:rPr b="0" lang="ru-RU" sz="170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));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504000" y="1440"/>
            <a:ext cx="9070920" cy="125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Строгая гарантия безопасности исключений. Решение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"/>
          <p:cNvSpPr/>
          <p:nvPr/>
        </p:nvSpPr>
        <p:spPr>
          <a:xfrm>
            <a:off x="72000" y="1335240"/>
            <a:ext cx="9827280" cy="21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using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IntVector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using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unique_ptr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&gt;;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750"/>
            </a:b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pair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makeUniquePair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{make_unique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),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make_unique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"/>
          <p:cNvSpPr/>
          <p:nvPr/>
        </p:nvSpPr>
        <p:spPr>
          <a:xfrm>
            <a:off x="72000" y="3711600"/>
            <a:ext cx="9827280" cy="17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pair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&lt;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&gt;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makeUniquePair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,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const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&amp;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 {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vecA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a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))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auto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vecB 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=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IVecPtr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new 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IVec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b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))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    </a:t>
            </a:r>
            <a:r>
              <a:rPr b="0" lang="ru-RU" sz="1750" strike="noStrike" u="none">
                <a:solidFill>
                  <a:srgbClr val="0033b3"/>
                </a:solidFill>
                <a:effectLst/>
                <a:uFillTx/>
                <a:latin typeface="JetBrains Mono"/>
                <a:ea typeface="JetBrains Mono"/>
              </a:rPr>
              <a:t>return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make_pair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move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vecA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), </a:t>
            </a:r>
            <a:r>
              <a:rPr b="0" lang="ru-RU" sz="1750" strike="noStrike" u="none">
                <a:solidFill>
                  <a:srgbClr val="00627a"/>
                </a:solidFill>
                <a:effectLst/>
                <a:uFillTx/>
                <a:latin typeface="JetBrains Mono"/>
                <a:ea typeface="JetBrains Mono"/>
              </a:rPr>
              <a:t>move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(</a:t>
            </a:r>
            <a:r>
              <a:rPr b="0" lang="ru-RU" sz="1750" strike="noStrike" u="none">
                <a:solidFill>
                  <a:srgbClr val="000000"/>
                </a:solidFill>
                <a:effectLst/>
                <a:uFillTx/>
                <a:latin typeface="JetBrains Mono"/>
                <a:ea typeface="JetBrains Mono"/>
              </a:rPr>
              <a:t>vecB</a:t>
            </a: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));</a:t>
            </a:r>
            <a:br>
              <a:rPr sz="1750"/>
            </a:br>
            <a:r>
              <a:rPr b="0" lang="ru-RU" sz="1750" strike="noStrike" u="none">
                <a:solidFill>
                  <a:srgbClr val="080808"/>
                </a:solidFill>
                <a:effectLst/>
                <a:uFillTx/>
                <a:latin typeface="JetBrains Mono"/>
                <a:ea typeface="JetBrains Mono"/>
              </a:rPr>
              <a:t>}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781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2025-11-17T16:08:28Z</dcterms:created>
  <dc:creator/>
  <dc:description/>
  <dc:language>ru-RU</dc:language>
  <cp:lastModifiedBy/>
  <dcterms:modified xsi:type="dcterms:W3CDTF">2025-11-25T00:24:07Z</dcterms:modified>
  <cp:revision>84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